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7" r:id="rId2"/>
    <p:sldId id="302" r:id="rId3"/>
    <p:sldId id="289" r:id="rId4"/>
    <p:sldId id="293" r:id="rId5"/>
    <p:sldId id="272" r:id="rId6"/>
    <p:sldId id="308" r:id="rId7"/>
    <p:sldId id="310" r:id="rId8"/>
    <p:sldId id="311" r:id="rId9"/>
    <p:sldId id="274" r:id="rId10"/>
    <p:sldId id="312" r:id="rId11"/>
    <p:sldId id="275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D04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17"/>
    <p:restoredTop sz="96301"/>
  </p:normalViewPr>
  <p:slideViewPr>
    <p:cSldViewPr snapToGrid="0">
      <p:cViewPr varScale="1">
        <p:scale>
          <a:sx n="114" d="100"/>
          <a:sy n="114" d="100"/>
        </p:scale>
        <p:origin x="200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spPr>
            <a:solidFill>
              <a:srgbClr val="C0504D"/>
            </a:solidFill>
            <a:ln>
              <a:noFill/>
            </a:ln>
          </c:spPr>
          <c:invertIfNegative val="1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333333"/>
                    </a:solidFill>
                    <a:latin typeface="맑은 고딕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2412</c:v>
                </c:pt>
                <c:pt idx="1">
                  <c:v>3048</c:v>
                </c:pt>
                <c:pt idx="2">
                  <c:v>2949</c:v>
                </c:pt>
                <c:pt idx="3">
                  <c:v>3279</c:v>
                </c:pt>
                <c:pt idx="4">
                  <c:v>3378</c:v>
                </c:pt>
                <c:pt idx="5">
                  <c:v>3559</c:v>
                </c:pt>
                <c:pt idx="6">
                  <c:v>3661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B5D6-BE42-88C7-7AF30600AA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C9C9C9"/>
            </a:solidFill>
          </a:ln>
        </c:spPr>
        <c:txPr>
          <a:bodyPr rot="0" vert="horz"/>
          <a:lstStyle/>
          <a:p>
            <a:pPr>
              <a:defRPr sz="900" b="0" i="0">
                <a:solidFill>
                  <a:srgbClr val="333333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1인 세대</c:v>
          </c:tx>
          <c:spPr>
            <a:ln w="28575">
              <a:solidFill>
                <a:srgbClr val="C0504D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19050">
                <a:solidFill>
                  <a:srgbClr val="C0504D"/>
                </a:solidFill>
              </a:ln>
            </c:spPr>
          </c:marker>
          <c:dLbls>
            <c:dLbl>
              <c:idx val="0"/>
              <c:layout>
                <c:manualLayout>
                  <c:x val="-0.02"/>
                  <c:y val="-0.14000000000000001"/>
                </c:manualLayout>
              </c:layout>
              <c:tx>
                <c:rich>
                  <a:bodyPr/>
                  <a:lstStyle/>
                  <a:p>
                    <a:r>
                      <a:rPr lang="en-US" altLang="ko-KR" sz="1100" b="1">
                        <a:solidFill>
                          <a:srgbClr val="C0504D"/>
                        </a:solidFill>
                        <a:latin typeface="Calibri"/>
                      </a:rPr>
                      <a:t>906</a:t>
                    </a:r>
                    <a:r>
                      <a:rPr lang="ko-KR" altLang="en-US" sz="1100" b="1">
                        <a:solidFill>
                          <a:srgbClr val="C0504D"/>
                        </a:solidFill>
                        <a:latin typeface="Calibri"/>
                      </a:rPr>
                      <a:t>만 </a:t>
                    </a:r>
                    <a:r>
                      <a:rPr lang="en-US" altLang="ko-KR" sz="1100" b="1">
                        <a:solidFill>
                          <a:srgbClr val="C0504D"/>
                        </a:solidFill>
                        <a:latin typeface="Calibri"/>
                      </a:rPr>
                      <a:t>(39.2%)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7A8E-1243-B28B-AC5DF962E987}"/>
                </c:ext>
              </c:extLst>
            </c:dLbl>
            <c:dLbl>
              <c:idx val="2"/>
              <c:layout>
                <c:manualLayout>
                  <c:x val="0"/>
                  <c:y val="-0.15"/>
                </c:manualLayout>
              </c:layout>
              <c:tx>
                <c:rich>
                  <a:bodyPr/>
                  <a:lstStyle/>
                  <a:p>
                    <a:r>
                      <a:rPr lang="en-US" altLang="ko-KR" sz="1100" b="1">
                        <a:solidFill>
                          <a:srgbClr val="C0504D"/>
                        </a:solidFill>
                        <a:latin typeface="Calibri"/>
                      </a:rPr>
                      <a:t>972</a:t>
                    </a:r>
                    <a:r>
                      <a:rPr lang="ko-KR" altLang="en-US" sz="1100" b="1">
                        <a:solidFill>
                          <a:srgbClr val="C0504D"/>
                        </a:solidFill>
                        <a:latin typeface="Calibri"/>
                      </a:rPr>
                      <a:t>만 </a:t>
                    </a:r>
                    <a:r>
                      <a:rPr lang="en-US" altLang="ko-KR" sz="1100" b="1">
                        <a:solidFill>
                          <a:srgbClr val="C0504D"/>
                        </a:solidFill>
                        <a:latin typeface="Calibri"/>
                      </a:rPr>
                      <a:t>(41.0%)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7A8E-1243-B28B-AC5DF962E987}"/>
                </c:ext>
              </c:extLst>
            </c:dLbl>
            <c:dLbl>
              <c:idx val="4"/>
              <c:layout>
                <c:manualLayout>
                  <c:x val="-0.01"/>
                  <c:y val="-0.14000000000000001"/>
                </c:manualLayout>
              </c:layout>
              <c:tx>
                <c:rich>
                  <a:bodyPr/>
                  <a:lstStyle/>
                  <a:p>
                    <a:r>
                      <a:rPr lang="en-US" altLang="ko-KR" sz="1100" b="1">
                        <a:solidFill>
                          <a:srgbClr val="C0504D"/>
                        </a:solidFill>
                        <a:latin typeface="Calibri"/>
                      </a:rPr>
                      <a:t>1,012</a:t>
                    </a:r>
                    <a:r>
                      <a:rPr lang="ko-KR" altLang="en-US" sz="1100" b="1">
                        <a:solidFill>
                          <a:srgbClr val="C0504D"/>
                        </a:solidFill>
                        <a:latin typeface="Calibri"/>
                      </a:rPr>
                      <a:t>만 </a:t>
                    </a:r>
                    <a:r>
                      <a:rPr lang="en-US" altLang="ko-KR" sz="1100" b="1">
                        <a:solidFill>
                          <a:srgbClr val="C0504D"/>
                        </a:solidFill>
                        <a:latin typeface="Calibri"/>
                      </a:rPr>
                      <a:t>(42.0%)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7A8E-1243-B28B-AC5DF962E98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2020</c:v>
              </c:pt>
              <c:pt idx="1">
                <c:v>2021</c:v>
              </c:pt>
              <c:pt idx="2">
                <c:v>2022</c:v>
              </c:pt>
              <c:pt idx="3">
                <c:v>2023</c:v>
              </c:pt>
              <c:pt idx="4">
                <c:v>2024</c:v>
              </c:pt>
            </c:strLit>
          </c:cat>
          <c:val>
            <c:numLit>
              <c:formatCode>General</c:formatCode>
              <c:ptCount val="5"/>
              <c:pt idx="0">
                <c:v>906.3</c:v>
              </c:pt>
              <c:pt idx="1">
                <c:v>946.2</c:v>
              </c:pt>
              <c:pt idx="2">
                <c:v>972.4</c:v>
              </c:pt>
              <c:pt idx="3">
                <c:v>993.6</c:v>
              </c:pt>
              <c:pt idx="4">
                <c:v>1012.3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3-7A8E-1243-B28B-AC5DF962E9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C9C9C9"/>
            </a:solidFill>
          </a:ln>
        </c:spPr>
        <c:txPr>
          <a:bodyPr rot="0" vert="horz"/>
          <a:lstStyle/>
          <a:p>
            <a:pPr>
              <a:defRPr sz="1100" b="0">
                <a:solidFill>
                  <a:srgbClr val="333333"/>
                </a:solidFill>
                <a:latin typeface="Calibri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050"/>
          <c:min val="850"/>
        </c:scaling>
        <c:delete val="1"/>
        <c:axPos val="l"/>
        <c:numFmt formatCode="#,##0" sourceLinked="0"/>
        <c:majorTickMark val="none"/>
        <c:minorTickMark val="none"/>
        <c:tickLblPos val="nextTo"/>
        <c:crossAx val="1"/>
        <c:crosses val="autoZero"/>
        <c:crossBetween val="between"/>
        <c:majorUnit val="50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8C8C8C"/>
            </a:solidFill>
            <a:ln>
              <a:noFill/>
            </a:ln>
          </c:spPr>
          <c:invertIfNegative val="1"/>
          <c:dPt>
            <c:idx val="7"/>
            <c:invertIfNegative val="1"/>
            <c:bubble3D val="0"/>
            <c:spPr>
              <a:solidFill>
                <a:srgbClr val="9B1B3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8C0A-E346-B1B7-B8FA336D9852}"/>
              </c:ext>
            </c:extLst>
          </c:dPt>
          <c:dLbls>
            <c:numFmt formatCode="#,##0&quot;kWh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333333"/>
                    </a:solidFill>
                    <a:latin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8"/>
              <c:pt idx="0">
                <c:v>전기포트·기타</c:v>
              </c:pt>
              <c:pt idx="1">
                <c:v>조명</c:v>
              </c:pt>
              <c:pt idx="2">
                <c:v>TV·셋톱</c:v>
              </c:pt>
              <c:pt idx="3">
                <c:v>세탁·건조기</c:v>
              </c:pt>
              <c:pt idx="4">
                <c:v>인덕션·전기밥솥</c:v>
              </c:pt>
              <c:pt idx="5">
                <c:v>대기전력·기타</c:v>
              </c:pt>
              <c:pt idx="6">
                <c:v>냉장고</c:v>
              </c:pt>
              <c:pt idx="7">
                <c:v>에어컨</c:v>
              </c:pt>
            </c:strLit>
          </c:cat>
          <c:val>
            <c:numLit>
              <c:formatCode>General</c:formatCode>
              <c:ptCount val="8"/>
              <c:pt idx="0">
                <c:v>26</c:v>
              </c:pt>
              <c:pt idx="1">
                <c:v>29</c:v>
              </c:pt>
              <c:pt idx="2">
                <c:v>29</c:v>
              </c:pt>
              <c:pt idx="3">
                <c:v>37</c:v>
              </c:pt>
              <c:pt idx="4">
                <c:v>44</c:v>
              </c:pt>
              <c:pt idx="5">
                <c:v>48</c:v>
              </c:pt>
              <c:pt idx="6">
                <c:v>66</c:v>
              </c:pt>
              <c:pt idx="7">
                <c:v>88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8C0A-E346-B1B7-B8FA336D98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525">
            <a:solidFill>
              <a:srgbClr val="C9C9C9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333333"/>
                </a:solidFill>
                <a:latin typeface="Calibri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4E42F5-01C0-1F45-BBE2-8FA95BA445A4}" type="datetimeFigureOut">
              <a:rPr kumimoji="1" lang="ko-KR" altLang="en-US" smtClean="0"/>
              <a:t>2026. 9. 17.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82F926-3081-2C46-A642-D405C968963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77109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1.</a:t>
            </a:r>
            <a:r>
              <a:rPr kumimoji="1" lang="ko-KR" altLang="en-US" dirty="0"/>
              <a:t> 에너지 </a:t>
            </a:r>
            <a:r>
              <a:rPr kumimoji="1" lang="ko-KR" altLang="en-US" dirty="0" err="1"/>
              <a:t>프로슈머</a:t>
            </a:r>
            <a:br>
              <a:rPr kumimoji="1" lang="en-US" altLang="ko-KR" dirty="0"/>
            </a:br>
            <a:endParaRPr kumimoji="1" lang="en-US" altLang="ko-KR" dirty="0"/>
          </a:p>
          <a:p>
            <a:r>
              <a:rPr kumimoji="1" lang="ko-KR" altLang="en-US" dirty="0"/>
              <a:t>에너지 </a:t>
            </a:r>
            <a:r>
              <a:rPr kumimoji="1" lang="ko-KR" altLang="en-US" dirty="0" err="1"/>
              <a:t>프로슈머란</a:t>
            </a:r>
            <a:r>
              <a:rPr kumimoji="1" lang="ko-KR" altLang="en-US" dirty="0"/>
              <a:t> 무엇일까요</a:t>
            </a:r>
            <a:r>
              <a:rPr kumimoji="1" lang="en-US" altLang="ko-KR" dirty="0"/>
              <a:t>?</a:t>
            </a:r>
            <a:r>
              <a:rPr kumimoji="1" lang="ko-KR" altLang="en-US" dirty="0"/>
              <a:t> 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에너지 </a:t>
            </a:r>
            <a:r>
              <a:rPr kumimoji="1" lang="ko-KR" altLang="en-US" dirty="0" err="1"/>
              <a:t>프로슈머는</a:t>
            </a:r>
            <a:r>
              <a:rPr kumimoji="1" lang="ko-KR" altLang="en-US" dirty="0"/>
              <a:t> 왼쪽 사진에서 볼 수 있듯이 소비자가 다른 소비자에게 또는 전력 공급자 등에게 전기를 사고 팔 수 있는 주체라고 말할 수 있습니다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쉽게 말해 전기를 모아서 비쌀 때 팔고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부족하다면 쌀 때 사는 주식과 같은 구조라고 말할 수 있습니다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en-US" altLang="ko-KR" dirty="0"/>
              <a:t>2.</a:t>
            </a:r>
            <a:r>
              <a:rPr kumimoji="1" lang="ko-KR" altLang="en-US" dirty="0"/>
              <a:t> 세계 사례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저희가 이 에너지 </a:t>
            </a:r>
            <a:r>
              <a:rPr kumimoji="1" lang="ko-KR" altLang="en-US" dirty="0" err="1"/>
              <a:t>프로슈머에</a:t>
            </a:r>
            <a:r>
              <a:rPr kumimoji="1" lang="ko-KR" altLang="en-US" dirty="0"/>
              <a:t> 집중한 이유는 해외 사례를 바탕으로 한국에서도 충분히 상용화가 가능하고 이미 일부 상용화가 가능하다고 판단하였기 때문입니다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실제 유럽 다국에서는 태양광 발전량 등이 너무 많아 전기 사용비를 </a:t>
            </a:r>
            <a:r>
              <a:rPr kumimoji="1" lang="en-US" altLang="ko-KR" dirty="0"/>
              <a:t>0</a:t>
            </a:r>
            <a:r>
              <a:rPr kumimoji="1" lang="ko-KR" altLang="en-US" dirty="0"/>
              <a:t>원으로 낼 수 있는 상황까지 이르렀고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이를 바탕으로 전기 거래를 더 활성화 시킨 사례가 있습니다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또한 이러한 활성화된 거래로 인해 전력 거래 플랫폼도 활발히 발전하고 있습니다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en-US" altLang="ko-KR" dirty="0"/>
              <a:t>3.</a:t>
            </a:r>
            <a:r>
              <a:rPr kumimoji="1" lang="ko-KR" altLang="en-US" dirty="0"/>
              <a:t> 한국 사례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그렇다면 한국은 어떨까요</a:t>
            </a:r>
            <a:r>
              <a:rPr kumimoji="1" lang="en-US" altLang="ko-KR" dirty="0"/>
              <a:t>?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한국은 </a:t>
            </a:r>
            <a:r>
              <a:rPr kumimoji="1" lang="ko-KR" altLang="en-US" dirty="0" err="1"/>
              <a:t>스마트미터를</a:t>
            </a:r>
            <a:r>
              <a:rPr kumimoji="1" lang="ko-KR" altLang="en-US" dirty="0"/>
              <a:t> </a:t>
            </a:r>
            <a:r>
              <a:rPr kumimoji="1" lang="en-US" altLang="ko-KR" dirty="0"/>
              <a:t>24</a:t>
            </a:r>
            <a:r>
              <a:rPr kumimoji="1" lang="ko-KR" altLang="en-US" dirty="0"/>
              <a:t>년에 약 </a:t>
            </a:r>
            <a:r>
              <a:rPr kumimoji="1" lang="en-US" altLang="ko-KR" dirty="0"/>
              <a:t>2000</a:t>
            </a:r>
            <a:r>
              <a:rPr kumimoji="1" lang="ko-KR" altLang="en-US" dirty="0"/>
              <a:t>만 호를 보급하였기 때문에 전력 거래에 충분한 데이터 기반은 존재한 것으로 확인이 되었습니다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하지만 환경적인 요인으로 인해 태양광 발전에 대한 우려는 존재하였는데요</a:t>
            </a:r>
            <a:r>
              <a:rPr kumimoji="1" lang="en-US" altLang="ko-KR" dirty="0"/>
              <a:t>,</a:t>
            </a:r>
            <a:r>
              <a:rPr kumimoji="1" lang="ko-KR" altLang="en-US" dirty="0"/>
              <a:t> 이러한 부분은 현재 옥상 태양광과 </a:t>
            </a:r>
            <a:r>
              <a:rPr kumimoji="1" lang="ko-KR" altLang="en-US" dirty="0" err="1"/>
              <a:t>스마트미터</a:t>
            </a:r>
            <a:r>
              <a:rPr kumimoji="1" lang="en-US" altLang="ko-KR" dirty="0"/>
              <a:t>,</a:t>
            </a:r>
            <a:r>
              <a:rPr kumimoji="1" lang="ko-KR" altLang="en-US" dirty="0"/>
              <a:t> 단지형 </a:t>
            </a:r>
            <a:r>
              <a:rPr kumimoji="1" lang="ko-KR" altLang="en-US" dirty="0" err="1"/>
              <a:t>에너테크</a:t>
            </a:r>
            <a:r>
              <a:rPr kumimoji="1" lang="ko-KR" altLang="en-US" dirty="0"/>
              <a:t> 비지니스 등을 통해 문제를 해결하고 있는 모습을 보이고 있습니다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따라서 이러한 에너지 거래 아이디어를 통해 좀 더 사회 환경 문제에 기여를 할 수 있다는 장점도 있지만</a:t>
            </a:r>
            <a:r>
              <a:rPr kumimoji="1" lang="en-US" altLang="ko-KR" dirty="0"/>
              <a:t>,</a:t>
            </a:r>
            <a:r>
              <a:rPr kumimoji="1" lang="ko-KR" altLang="en-US" dirty="0"/>
              <a:t> 아직 해외 사례처럼 거래 플랫폼은 미비한 것을 확인하였습니다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82F926-3081-2C46-A642-D405C968963C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943602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다음은 앞서 설명 드린 전력</a:t>
            </a:r>
            <a:r>
              <a:rPr kumimoji="1" lang="en-US" altLang="ko-KR" dirty="0"/>
              <a:t>,</a:t>
            </a:r>
            <a:r>
              <a:rPr kumimoji="1" lang="ko-KR" altLang="en-US" dirty="0"/>
              <a:t> 전기의 사용량을 바탕으로 또 어떤 사회적인 문제를 해결할 수 있을 지 확인을 해보았습니다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그 중 저희는 해를 거듭할수록 늘어나고 있는 </a:t>
            </a:r>
            <a:r>
              <a:rPr kumimoji="1" lang="en-US" altLang="ko-KR" dirty="0"/>
              <a:t>1</a:t>
            </a:r>
            <a:r>
              <a:rPr kumimoji="1" lang="ko-KR" altLang="en-US" dirty="0"/>
              <a:t>인가구에 대한 사회 추세를 확인하게 되었고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이와 </a:t>
            </a:r>
            <a:r>
              <a:rPr kumimoji="1" lang="ko-KR" altLang="en-US" dirty="0" err="1"/>
              <a:t>밀접환</a:t>
            </a:r>
            <a:r>
              <a:rPr kumimoji="1" lang="ko-KR" altLang="en-US" dirty="0"/>
              <a:t> 관련이 있는 고독사 사망 추이에 집중하게 되었습니다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en-US" altLang="ko-KR" dirty="0"/>
              <a:t>1</a:t>
            </a:r>
            <a:r>
              <a:rPr kumimoji="1" lang="ko-KR" altLang="en-US" dirty="0"/>
              <a:t>인 가구가 늘어나는 만큼 고독사 사망자 추이도 함께 늘어나는 것을 확인할 수 있었고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실제 뉴스에서도 이러한 문제를 쉽게 접할 수 있었습니다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따라서 이러한 문제를 전력 사용 이상 탐지를 통해 해결하고자 하였고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앞서 설명 드린 사회 환경 문제와 사회 문화 변화에 대한 문제를 함께 해결하고자 합니다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82F926-3081-2C46-A642-D405C968963C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482539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82F926-3081-2C46-A642-D405C968963C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903016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FC19F-6EC9-6A00-2A81-B923D79AF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2270780-51FA-634F-A6BD-C51075B786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96D7FD-DAB5-CA41-728C-C13ECB08A7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6036A6-60AF-E9FE-1BA6-D11D7AA04E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82F926-3081-2C46-A642-D405C968963C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55772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B21086-51A3-9466-0EE4-F4FB0E37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00BE95F-5A7E-97C8-A8E5-3C9B9CACD4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E5C5E1-35F5-5352-B776-CD36AAA52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EBA33-B73D-A24E-8E6C-ECB412C78CFB}" type="datetime1">
              <a:rPr kumimoji="1" lang="ko-KR" altLang="en-US" smtClean="0"/>
              <a:t>2026. 9. 17.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83E1D0-A7D0-14DB-D606-5F8FD24BD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6F3DF6-190F-F852-1132-638088A25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F4AC-C263-BF4D-B85D-2209F4D7F59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76694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824108-0A1D-4903-7E6E-921D8734C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5B0834-3584-1195-3060-18C322A0F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F396DA-0888-A4FF-2D01-9A70E824F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68DD5-60CB-164F-BC76-91F09B85CEBD}" type="datetime1">
              <a:rPr kumimoji="1" lang="ko-KR" altLang="en-US" smtClean="0"/>
              <a:t>2026. 9. 17.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391C2D-EF74-84D6-E3FF-0491A9702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47440A-9BC6-5E8C-F6A0-88ACEA57E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F4AC-C263-BF4D-B85D-2209F4D7F59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55833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34E8FD-6DA4-3356-35F9-BBD1C7F1D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CADCFE-95CD-B87D-D225-F7BFA91739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E80043-C2CA-46DD-3D61-A573272D4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ABFAB-DAB1-D04F-ACA7-9E2FD6A8233F}" type="datetime1">
              <a:rPr kumimoji="1" lang="ko-KR" altLang="en-US" smtClean="0"/>
              <a:t>2026. 9. 17.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F5E82A-626D-200B-CA97-4212D440D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DE9F21-D3B3-0658-5718-6CCFE301B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F4AC-C263-BF4D-B85D-2209F4D7F59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0478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C42008-C888-F4BC-EC11-03D7AD1FD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15780F-661D-DEE8-9DB7-FEAC1F9277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09BE795-B4D8-7157-8849-35E5984C87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1941907-9197-CF5C-52EF-638869B61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273A3-EADA-084C-A9CD-9270B81B9553}" type="datetime1">
              <a:rPr kumimoji="1" lang="ko-KR" altLang="en-US" smtClean="0"/>
              <a:t>2026. 9. 17.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FA5C94-A3E9-DE69-AE78-528A34FB9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EDC2A1-DDA4-6A8E-AFB6-C8AAAEB7F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F4AC-C263-BF4D-B85D-2209F4D7F59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7315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C57422-D775-EE6A-6303-F1E6B88A1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E4BAA3-210F-5C28-5901-B2CE650AB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B7BEDCD-2E7E-8B6F-8FF9-451EF77FE9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23C4FA2-3188-39EB-DA48-74EFA96CA9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84410CA-A783-BD08-B20B-BC942534C0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E7008FF-AA80-A3B6-EFE7-4F771D950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1B305-3FDB-0A43-8BF4-EA312BC333C0}" type="datetime1">
              <a:rPr kumimoji="1" lang="ko-KR" altLang="en-US" smtClean="0"/>
              <a:t>2026. 9. 17.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92A978B-C046-C798-A56A-E12EF0B73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DEBE71E-8750-BB5F-ABB7-B9441F6ED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F4AC-C263-BF4D-B85D-2209F4D7F59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17152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8FECAC-CD35-B5B6-9627-711419E8E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5DB4244-3D55-273E-E711-25E35FFB7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FD6A3-13C1-AA4F-BB7A-E3023B1589D4}" type="datetime1">
              <a:rPr kumimoji="1" lang="ko-KR" altLang="en-US" smtClean="0"/>
              <a:t>2026. 9. 17.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13D255F-6D85-B4C7-E791-8B560804C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D2BD701-93B2-ECA0-639F-9D4F492AF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F4AC-C263-BF4D-B85D-2209F4D7F59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76791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B4DBEF9-A04D-4562-BEF7-622E9721E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F88BB-C2FE-A94D-9C8E-95BD534F6696}" type="datetime1">
              <a:rPr kumimoji="1" lang="ko-KR" altLang="en-US" smtClean="0"/>
              <a:t>2026. 9. 17.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444BCFA-C65E-C960-5CE0-8C15F557A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5B5ED-73AD-CFCC-A4F9-A29719FA0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F4AC-C263-BF4D-B85D-2209F4D7F59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60674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504BA5-24B1-9EA9-AE52-A0BA87D8C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CCD1D4-1408-45D7-EB65-121CFD30A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F7981D3-2463-9139-7C1C-874F8A6777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2257447-3E02-2F04-54A8-1F1AF32C7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681F3-4DC2-6C40-BE77-DEFBC28679F0}" type="datetime1">
              <a:rPr kumimoji="1" lang="ko-KR" altLang="en-US" smtClean="0"/>
              <a:t>2026. 9. 17.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7DB92F-89BB-5600-3E82-4314A4A24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C1D52A-2715-029F-928B-C03DECBAE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F4AC-C263-BF4D-B85D-2209F4D7F59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82612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21C492-30AB-741F-0FBC-4E0805D33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CF43A7A-7031-DBB7-C8D8-BEF8A5E446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7C07E28-1F1E-425C-D364-A4A8943234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CD7EAF-4F49-5DAB-399A-1779BA085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E5CC7-B847-654F-ABE8-3ACE38B530D1}" type="datetime1">
              <a:rPr kumimoji="1" lang="ko-KR" altLang="en-US" smtClean="0"/>
              <a:t>2026. 9. 17.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5FD9A3-D761-FC82-77A2-DC0F083F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F3DE80-2A2B-7DF2-604B-CBE59F9B4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F4AC-C263-BF4D-B85D-2209F4D7F59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78786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7F981A-3088-60EC-87AA-90313CA7E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726B032-8EA1-4362-BCA6-CBBB68ABDD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6FA4BE-095F-4B13-004A-2EAEDB354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5763B-3143-C243-818E-D26BA17A71DE}" type="datetime1">
              <a:rPr kumimoji="1" lang="ko-KR" altLang="en-US" smtClean="0"/>
              <a:t>2026. 9. 17.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12820A-31E0-C91E-5A95-82BF2C99D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CE82AF-1B0F-33B0-092F-106820AF8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F4AC-C263-BF4D-B85D-2209F4D7F59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22299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B02140E-087E-4165-B752-E9BCD7029D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5887F51-76C3-584B-DFC3-4D6D3691D8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91D661-7CF3-C6F3-A673-206B9922B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54E2C-45E8-3B44-9567-47BE3B371D03}" type="datetime1">
              <a:rPr kumimoji="1" lang="ko-KR" altLang="en-US" smtClean="0"/>
              <a:t>2026. 9. 17.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304A40-DD9F-0126-5D40-8B9A5870F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DE3ECF-8793-9538-0772-AFED5E2CE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F4AC-C263-BF4D-B85D-2209F4D7F59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22731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621127E-C37E-40F9-2DB9-DE3DF0341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CDAA0F-B492-8607-D1B7-E666EDC563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4DC5F5-6F16-14F7-11D2-5279140688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001A33-806B-E949-9C0F-F763CC1320A2}" type="datetime1">
              <a:rPr kumimoji="1" lang="ko-KR" altLang="en-US" smtClean="0"/>
              <a:t>2026. 9. 17.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F3E035-A79E-DA96-16E3-C346070861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F869F6-4023-D973-86D4-62CF9C605B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40F4AC-C263-BF4D-B85D-2209F4D7F59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7024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ket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922" y="188410"/>
            <a:ext cx="2148840" cy="4752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286000"/>
            <a:ext cx="1106424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주제 ①  사회문제 해결을 위한 AI 및 융합·응용기술 아이디어 제안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88690" y="2683207"/>
            <a:ext cx="6814619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5200" b="1" dirty="0" err="1">
                <a:solidFill>
                  <a:srgbClr val="333333"/>
                </a:solidFill>
                <a:latin typeface="S-Core Dream 7 ExtraBold" panose="020B0503030302020204" pitchFamily="34" charset="-127"/>
                <a:ea typeface="S-Core Dream 7 ExtraBold" panose="020B0503030302020204" pitchFamily="34" charset="-127"/>
              </a:rPr>
              <a:t>WattWise</a:t>
            </a:r>
            <a:endParaRPr sz="5200" b="1" dirty="0">
              <a:solidFill>
                <a:srgbClr val="333333"/>
              </a:solidFill>
              <a:latin typeface="S-Core Dream 7 ExtraBold" panose="020B0503030302020204" pitchFamily="34" charset="-127"/>
              <a:ea typeface="S-Core Dream 7 ExtraBold" panose="020B0503030302020204" pitchFamily="34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42122" y="3592844"/>
            <a:ext cx="7707754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dirty="0" err="1">
                <a:solidFill>
                  <a:srgbClr val="333333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전기를</a:t>
            </a:r>
            <a:r>
              <a:rPr sz="2200" dirty="0">
                <a:solidFill>
                  <a:srgbClr val="333333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</a:t>
            </a:r>
            <a:r>
              <a:rPr sz="2200" dirty="0" err="1">
                <a:solidFill>
                  <a:srgbClr val="333333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사고팔고</a:t>
            </a:r>
            <a:r>
              <a:rPr sz="2200" dirty="0">
                <a:solidFill>
                  <a:srgbClr val="333333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, </a:t>
            </a:r>
            <a:r>
              <a:rPr sz="2200" dirty="0" err="1">
                <a:solidFill>
                  <a:srgbClr val="333333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아끼고</a:t>
            </a:r>
            <a:r>
              <a:rPr sz="2200" dirty="0">
                <a:solidFill>
                  <a:srgbClr val="333333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, </a:t>
            </a:r>
            <a:r>
              <a:rPr sz="2200" dirty="0" err="1">
                <a:solidFill>
                  <a:srgbClr val="333333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지켜주는</a:t>
            </a:r>
            <a:r>
              <a:rPr sz="2200" dirty="0">
                <a:solidFill>
                  <a:srgbClr val="333333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</a:t>
            </a:r>
            <a:r>
              <a:rPr sz="2200" dirty="0" err="1">
                <a:solidFill>
                  <a:srgbClr val="333333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집</a:t>
            </a:r>
            <a:r>
              <a:rPr sz="2200" dirty="0">
                <a:solidFill>
                  <a:srgbClr val="333333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</a:t>
            </a:r>
            <a:r>
              <a:rPr sz="2200" dirty="0" err="1">
                <a:solidFill>
                  <a:srgbClr val="333333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안의</a:t>
            </a:r>
            <a:r>
              <a:rPr sz="2200" dirty="0">
                <a:solidFill>
                  <a:srgbClr val="333333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</a:t>
            </a:r>
            <a:r>
              <a:rPr sz="2200" dirty="0" err="1">
                <a:solidFill>
                  <a:srgbClr val="333333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전력</a:t>
            </a:r>
            <a:r>
              <a:rPr sz="2200" dirty="0">
                <a:solidFill>
                  <a:srgbClr val="333333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</a:t>
            </a:r>
            <a:r>
              <a:rPr sz="2200" dirty="0" err="1">
                <a:solidFill>
                  <a:srgbClr val="333333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비서</a:t>
            </a:r>
            <a:endParaRPr sz="2200" dirty="0">
              <a:solidFill>
                <a:srgbClr val="333333"/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4202146"/>
            <a:ext cx="1106424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dirty="0" err="1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라즈베리파이</a:t>
            </a:r>
            <a:r>
              <a:rPr sz="130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</a:t>
            </a:r>
            <a:r>
              <a:rPr sz="1300" dirty="0" err="1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한</a:t>
            </a:r>
            <a:r>
              <a:rPr sz="130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</a:t>
            </a:r>
            <a:r>
              <a:rPr sz="1300" dirty="0" err="1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대로</a:t>
            </a:r>
            <a:r>
              <a:rPr sz="130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, </a:t>
            </a:r>
            <a:r>
              <a:rPr sz="1300" dirty="0" err="1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가정이</a:t>
            </a:r>
            <a:r>
              <a:rPr sz="130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</a:t>
            </a:r>
            <a:r>
              <a:rPr sz="1300" dirty="0" err="1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스스로</a:t>
            </a:r>
            <a:r>
              <a:rPr sz="130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</a:t>
            </a:r>
            <a:r>
              <a:rPr sz="1300" dirty="0" err="1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판단하는</a:t>
            </a:r>
            <a:r>
              <a:rPr sz="130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</a:t>
            </a:r>
            <a:r>
              <a:rPr sz="1300" dirty="0" err="1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온디바이스</a:t>
            </a:r>
            <a:r>
              <a:rPr sz="130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</a:t>
            </a:r>
            <a:r>
              <a:rPr sz="1300" dirty="0" err="1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전력</a:t>
            </a:r>
            <a:r>
              <a:rPr sz="130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</a:t>
            </a:r>
            <a:r>
              <a:rPr sz="1300" dirty="0" err="1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서비스</a:t>
            </a:r>
            <a:endParaRPr sz="1300" dirty="0">
              <a:solidFill>
                <a:srgbClr val="707070"/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331302" y="5728121"/>
            <a:ext cx="1757916" cy="7803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  <a:spcAft>
                <a:spcPts val="200"/>
              </a:spcAft>
            </a:pPr>
            <a:r>
              <a:rPr sz="1100" b="1" dirty="0" err="1">
                <a:solidFill>
                  <a:srgbClr val="333333"/>
                </a:solidFill>
                <a:latin typeface="맑은 고딕"/>
              </a:rPr>
              <a:t>멘토</a:t>
            </a:r>
            <a:r>
              <a:rPr sz="1100" b="1" dirty="0">
                <a:solidFill>
                  <a:srgbClr val="333333"/>
                </a:solidFill>
                <a:latin typeface="맑은 고딕"/>
              </a:rPr>
              <a:t> : </a:t>
            </a:r>
            <a:r>
              <a:rPr sz="1100" b="1" dirty="0" err="1">
                <a:solidFill>
                  <a:srgbClr val="333333"/>
                </a:solidFill>
                <a:latin typeface="맑은 고딕"/>
              </a:rPr>
              <a:t>조인표</a:t>
            </a:r>
            <a:r>
              <a:rPr sz="1100" b="1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100" b="1" dirty="0" err="1">
                <a:solidFill>
                  <a:srgbClr val="333333"/>
                </a:solidFill>
                <a:latin typeface="맑은 고딕"/>
              </a:rPr>
              <a:t>연구원님</a:t>
            </a:r>
            <a:endParaRPr sz="1100" b="1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ct val="150000"/>
              </a:lnSpc>
              <a:spcAft>
                <a:spcPts val="200"/>
              </a:spcAft>
            </a:pPr>
            <a:r>
              <a:rPr sz="1100" b="1" dirty="0" err="1">
                <a:solidFill>
                  <a:srgbClr val="333333"/>
                </a:solidFill>
                <a:latin typeface="맑은 고딕"/>
              </a:rPr>
              <a:t>팀장</a:t>
            </a:r>
            <a:r>
              <a:rPr sz="1100" b="1" dirty="0">
                <a:solidFill>
                  <a:srgbClr val="333333"/>
                </a:solidFill>
                <a:latin typeface="맑은 고딕"/>
              </a:rPr>
              <a:t> : 최진규</a:t>
            </a:r>
          </a:p>
          <a:p>
            <a:pPr>
              <a:lnSpc>
                <a:spcPct val="150000"/>
              </a:lnSpc>
              <a:spcAft>
                <a:spcPts val="200"/>
              </a:spcAft>
            </a:pPr>
            <a:r>
              <a:rPr sz="1100" b="1" dirty="0" err="1">
                <a:solidFill>
                  <a:srgbClr val="333333"/>
                </a:solidFill>
                <a:latin typeface="맑은 고딕"/>
              </a:rPr>
              <a:t>팀원</a:t>
            </a:r>
            <a:r>
              <a:rPr sz="1100" b="1" dirty="0">
                <a:solidFill>
                  <a:srgbClr val="333333"/>
                </a:solidFill>
                <a:latin typeface="맑은 고딕"/>
              </a:rPr>
              <a:t> : </a:t>
            </a:r>
            <a:r>
              <a:rPr lang="ko-KR" altLang="en-US" sz="1100" b="1" dirty="0" err="1">
                <a:solidFill>
                  <a:srgbClr val="333333"/>
                </a:solidFill>
                <a:latin typeface="맑은 고딕"/>
              </a:rPr>
              <a:t>박채연</a:t>
            </a:r>
            <a:r>
              <a:rPr lang="en-US" altLang="ko-KR" sz="1100" b="1" dirty="0">
                <a:solidFill>
                  <a:srgbClr val="333333"/>
                </a:solidFill>
                <a:latin typeface="맑은 고딕"/>
              </a:rPr>
              <a:t>,</a:t>
            </a:r>
            <a:r>
              <a:rPr lang="ko-KR" altLang="en-US" sz="1100" b="1" dirty="0">
                <a:solidFill>
                  <a:srgbClr val="333333"/>
                </a:solidFill>
                <a:latin typeface="맑은 고딕"/>
              </a:rPr>
              <a:t> </a:t>
            </a:r>
            <a:r>
              <a:rPr lang="ko-KR" altLang="en-US" sz="1100" b="1" dirty="0" err="1">
                <a:solidFill>
                  <a:srgbClr val="333333"/>
                </a:solidFill>
                <a:latin typeface="맑은 고딕"/>
              </a:rPr>
              <a:t>안정빈</a:t>
            </a:r>
            <a:endParaRPr sz="1100" b="1" dirty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15CB80-E5E1-CC27-9E18-FF22B33C17CF}"/>
              </a:ext>
            </a:extLst>
          </p:cNvPr>
          <p:cNvSpPr txBox="1"/>
          <p:nvPr/>
        </p:nvSpPr>
        <p:spPr>
          <a:xfrm>
            <a:off x="6583680" y="292608"/>
            <a:ext cx="521208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2026 KETI AI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융합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응용기술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아이디어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경진대회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en-US" altLang="ko-KR"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차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중간발표회</a:t>
            </a:r>
            <a:endParaRPr sz="900" b="0" dirty="0">
              <a:solidFill>
                <a:srgbClr val="595959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3BB56-93D3-7C4C-0484-20EDE5EBB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슬라이드 번호 개체 틀 38">
            <a:extLst>
              <a:ext uri="{FF2B5EF4-FFF2-40B4-BE49-F238E27FC236}">
                <a16:creationId xmlns:a16="http://schemas.microsoft.com/office/drawing/2014/main" id="{ACE41F10-A7F1-E3F4-D696-D260DA119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9189" y="6420145"/>
            <a:ext cx="2743200" cy="365125"/>
          </a:xfrm>
        </p:spPr>
        <p:txBody>
          <a:bodyPr/>
          <a:lstStyle/>
          <a:p>
            <a:fld id="{7F40F4AC-C263-BF4D-B85D-2209F4D7F591}" type="slidenum">
              <a:rPr kumimoji="1" lang="ko-KR" altLang="en-US" smtClean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2</a:t>
            </a:fld>
            <a:endParaRPr kumimoji="1" lang="ko-KR" altLang="en-US"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D59035-FCB9-56B1-8256-D34986508B10}"/>
              </a:ext>
            </a:extLst>
          </p:cNvPr>
          <p:cNvSpPr txBox="1"/>
          <p:nvPr/>
        </p:nvSpPr>
        <p:spPr>
          <a:xfrm>
            <a:off x="566928" y="273346"/>
            <a:ext cx="10424160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dirty="0">
                <a:solidFill>
                  <a:srgbClr val="333333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1.  </a:t>
            </a:r>
            <a:r>
              <a:rPr sz="2500" b="1" dirty="0" err="1">
                <a:solidFill>
                  <a:srgbClr val="333333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연구배경</a:t>
            </a:r>
            <a:r>
              <a:rPr sz="2500" b="1" dirty="0">
                <a:solidFill>
                  <a:srgbClr val="333333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 </a:t>
            </a:r>
            <a:r>
              <a:rPr sz="2500" b="1" dirty="0" err="1">
                <a:solidFill>
                  <a:srgbClr val="333333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및</a:t>
            </a:r>
            <a:r>
              <a:rPr sz="2500" b="1" dirty="0">
                <a:solidFill>
                  <a:srgbClr val="333333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 </a:t>
            </a:r>
            <a:r>
              <a:rPr sz="2500" b="1" dirty="0" err="1">
                <a:solidFill>
                  <a:srgbClr val="333333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필요성</a:t>
            </a:r>
            <a:endParaRPr sz="2500" b="1" dirty="0">
              <a:solidFill>
                <a:srgbClr val="333333"/>
              </a:solidFill>
              <a:latin typeface="S-Core Dream 6 Bold" panose="020B0503030302020204" pitchFamily="34" charset="-127"/>
              <a:ea typeface="S-Core Dream 6 Bold" panose="020B0503030302020204" pitchFamily="34" charset="-127"/>
            </a:endParaRP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351B8936-ADA5-B8EB-0800-A4B78813B042}"/>
              </a:ext>
            </a:extLst>
          </p:cNvPr>
          <p:cNvSpPr/>
          <p:nvPr/>
        </p:nvSpPr>
        <p:spPr>
          <a:xfrm>
            <a:off x="566928" y="796590"/>
            <a:ext cx="11064240" cy="18288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946C2C-1F5D-6553-0439-826561A51E84}"/>
              </a:ext>
            </a:extLst>
          </p:cNvPr>
          <p:cNvSpPr txBox="1"/>
          <p:nvPr/>
        </p:nvSpPr>
        <p:spPr>
          <a:xfrm>
            <a:off x="6583680" y="292608"/>
            <a:ext cx="521208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2026 KETI AI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융합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응용기술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아이디어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경진대회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en-US" altLang="ko-KR"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차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중간발표회</a:t>
            </a:r>
            <a:endParaRPr sz="900" b="0" dirty="0">
              <a:solidFill>
                <a:srgbClr val="595959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CB12139-47D1-97BD-103D-1F132DC0D34B}"/>
              </a:ext>
            </a:extLst>
          </p:cNvPr>
          <p:cNvGrpSpPr/>
          <p:nvPr/>
        </p:nvGrpSpPr>
        <p:grpSpPr>
          <a:xfrm>
            <a:off x="6288835" y="1082444"/>
            <a:ext cx="5008111" cy="4103015"/>
            <a:chOff x="6288835" y="1082444"/>
            <a:chExt cx="5008111" cy="4103015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4FAC3288-3D86-1231-121F-6118BED8F1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0246"/>
            <a:stretch>
              <a:fillRect/>
            </a:stretch>
          </p:blipFill>
          <p:spPr>
            <a:xfrm>
              <a:off x="6288835" y="1461075"/>
              <a:ext cx="5008111" cy="3724384"/>
            </a:xfrm>
            <a:prstGeom prst="rect">
              <a:avLst/>
            </a:prstGeom>
          </p:spPr>
        </p:pic>
        <p:sp>
          <p:nvSpPr>
            <p:cNvPr id="15" name="TB402">
              <a:extLst>
                <a:ext uri="{FF2B5EF4-FFF2-40B4-BE49-F238E27FC236}">
                  <a16:creationId xmlns:a16="http://schemas.microsoft.com/office/drawing/2014/main" id="{F876D048-1D84-9EC7-B139-C38EE779AE23}"/>
                </a:ext>
              </a:extLst>
            </p:cNvPr>
            <p:cNvSpPr txBox="1"/>
            <p:nvPr/>
          </p:nvSpPr>
          <p:spPr>
            <a:xfrm>
              <a:off x="7085484" y="1082444"/>
              <a:ext cx="3414812" cy="338326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altLang="ko-KR" sz="1500" b="1" dirty="0">
                  <a:solidFill>
                    <a:srgbClr val="404040"/>
                  </a:solidFill>
                </a:rPr>
                <a:t>&lt;</a:t>
              </a:r>
              <a:r>
                <a:rPr lang="ko-KR" altLang="en-US" sz="1500" b="1" dirty="0">
                  <a:solidFill>
                    <a:srgbClr val="404040"/>
                  </a:solidFill>
                </a:rPr>
                <a:t> 세계 주요국 에너지 </a:t>
              </a:r>
              <a:r>
                <a:rPr lang="ko-KR" altLang="en-US" sz="1500" b="1" dirty="0" err="1">
                  <a:solidFill>
                    <a:srgbClr val="404040"/>
                  </a:solidFill>
                </a:rPr>
                <a:t>프로슈머</a:t>
              </a:r>
              <a:r>
                <a:rPr lang="ko-KR" altLang="en-US" sz="1500" b="1" dirty="0">
                  <a:solidFill>
                    <a:srgbClr val="404040"/>
                  </a:solidFill>
                </a:rPr>
                <a:t> 사례 </a:t>
              </a:r>
              <a:r>
                <a:rPr lang="en-US" altLang="ko-KR" sz="1500" b="1" dirty="0">
                  <a:solidFill>
                    <a:srgbClr val="404040"/>
                  </a:solidFill>
                </a:rPr>
                <a:t>&gt;</a:t>
              </a:r>
              <a:endParaRPr lang="ko-KR" altLang="en-US" sz="1500" b="1" dirty="0">
                <a:solidFill>
                  <a:srgbClr val="404040"/>
                </a:solidFill>
              </a:endParaRPr>
            </a:p>
          </p:txBody>
        </p:sp>
      </p:grpSp>
      <p:sp>
        <p:nvSpPr>
          <p:cNvPr id="18" name="Rounded Rectangle 42">
            <a:extLst>
              <a:ext uri="{FF2B5EF4-FFF2-40B4-BE49-F238E27FC236}">
                <a16:creationId xmlns:a16="http://schemas.microsoft.com/office/drawing/2014/main" id="{9F94C3CF-09CF-CD93-9537-D9E8A5D1FC24}"/>
              </a:ext>
            </a:extLst>
          </p:cNvPr>
          <p:cNvSpPr/>
          <p:nvPr/>
        </p:nvSpPr>
        <p:spPr>
          <a:xfrm>
            <a:off x="1201973" y="5944574"/>
            <a:ext cx="9789115" cy="596403"/>
          </a:xfrm>
          <a:prstGeom prst="roundRect">
            <a:avLst>
              <a:gd name="adj" fmla="val 1955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lang="ko-KR" altLang="en-US" sz="1500" b="1" dirty="0">
                <a:solidFill>
                  <a:schemeClr val="tx1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전기는 이제 쓰기만 하는 대상이 아니라 사고파는 대상이 되었지만</a:t>
            </a:r>
            <a:r>
              <a:rPr lang="en-US" altLang="ko-KR" sz="1500" b="1" dirty="0">
                <a:solidFill>
                  <a:schemeClr val="tx1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,</a:t>
            </a:r>
            <a:r>
              <a:rPr lang="ko-KR" altLang="en-US" sz="1500" b="1" dirty="0">
                <a:solidFill>
                  <a:schemeClr val="tx1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 가정에는 이를 활용해 판단할 도구 미비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8FB83AC-1133-EB8C-CB8A-15C86E420BF6}"/>
              </a:ext>
            </a:extLst>
          </p:cNvPr>
          <p:cNvGrpSpPr/>
          <p:nvPr/>
        </p:nvGrpSpPr>
        <p:grpSpPr>
          <a:xfrm>
            <a:off x="404294" y="1082444"/>
            <a:ext cx="5754935" cy="4739479"/>
            <a:chOff x="404294" y="1082444"/>
            <a:chExt cx="5754935" cy="4739479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7D2A011B-F589-FC95-16EE-9760DFC7CC7E}"/>
                </a:ext>
              </a:extLst>
            </p:cNvPr>
            <p:cNvGrpSpPr/>
            <p:nvPr/>
          </p:nvGrpSpPr>
          <p:grpSpPr>
            <a:xfrm>
              <a:off x="404294" y="1082444"/>
              <a:ext cx="4386254" cy="3163258"/>
              <a:chOff x="404294" y="1082444"/>
              <a:chExt cx="4386254" cy="3163258"/>
            </a:xfrm>
          </p:grpSpPr>
          <p:sp>
            <p:nvSpPr>
              <p:cNvPr id="401" name="TB402"/>
              <p:cNvSpPr txBox="1"/>
              <p:nvPr/>
            </p:nvSpPr>
            <p:spPr>
              <a:xfrm>
                <a:off x="1023088" y="1082444"/>
                <a:ext cx="3086454" cy="33832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100000"/>
                  </a:lnSpc>
                  <a:buNone/>
                </a:pPr>
                <a:r>
                  <a:rPr lang="en-US" altLang="ko-KR" sz="1500" b="1" dirty="0">
                    <a:solidFill>
                      <a:srgbClr val="404040"/>
                    </a:solidFill>
                  </a:rPr>
                  <a:t>&lt;</a:t>
                </a:r>
                <a:r>
                  <a:rPr lang="ko-KR" altLang="en-US" sz="1500" b="1" dirty="0">
                    <a:solidFill>
                      <a:srgbClr val="404040"/>
                    </a:solidFill>
                  </a:rPr>
                  <a:t> 에너지 </a:t>
                </a:r>
                <a:r>
                  <a:rPr lang="ko-KR" altLang="en-US" sz="1500" b="1" dirty="0" err="1">
                    <a:solidFill>
                      <a:srgbClr val="404040"/>
                    </a:solidFill>
                  </a:rPr>
                  <a:t>프로슈머</a:t>
                </a:r>
                <a:r>
                  <a:rPr lang="ko-KR" altLang="en-US" sz="1500" b="1" dirty="0">
                    <a:solidFill>
                      <a:srgbClr val="404040"/>
                    </a:solidFill>
                  </a:rPr>
                  <a:t> 흐름도</a:t>
                </a:r>
                <a:r>
                  <a:rPr lang="en-US" altLang="ko-KR" sz="1500" b="1" dirty="0">
                    <a:solidFill>
                      <a:srgbClr val="404040"/>
                    </a:solidFill>
                  </a:rPr>
                  <a:t>&gt;</a:t>
                </a:r>
                <a:endParaRPr lang="ko-KR" altLang="en-US" sz="1500" b="1" dirty="0">
                  <a:solidFill>
                    <a:srgbClr val="404040"/>
                  </a:solidFill>
                </a:endParaRPr>
              </a:p>
            </p:txBody>
          </p:sp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6550AFAA-192A-DD5F-487B-350B7147FEA7}"/>
                  </a:ext>
                </a:extLst>
              </p:cNvPr>
              <p:cNvGrpSpPr/>
              <p:nvPr/>
            </p:nvGrpSpPr>
            <p:grpSpPr>
              <a:xfrm>
                <a:off x="404294" y="1666518"/>
                <a:ext cx="4386254" cy="2579184"/>
                <a:chOff x="404294" y="1666518"/>
                <a:chExt cx="4386254" cy="2579184"/>
              </a:xfrm>
            </p:grpSpPr>
            <p:sp>
              <p:nvSpPr>
                <p:cNvPr id="409" name="TB410"/>
                <p:cNvSpPr txBox="1"/>
                <p:nvPr/>
              </p:nvSpPr>
              <p:spPr>
                <a:xfrm>
                  <a:off x="404294" y="2837811"/>
                  <a:ext cx="1676400" cy="4318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 anchorCtr="0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buNone/>
                  </a:pPr>
                  <a:r>
                    <a:rPr lang="ko-KR" altLang="en-US" sz="1200" b="1" dirty="0">
                      <a:solidFill>
                        <a:srgbClr val="404040"/>
                      </a:solidFill>
                      <a:latin typeface="S-Core Dream 6 Bold" panose="020B0503030302020204" pitchFamily="34" charset="-127"/>
                      <a:ea typeface="S-Core Dream 6 Bold" panose="020B0503030302020204" pitchFamily="34" charset="-127"/>
                    </a:rPr>
                    <a:t>지붕 위 태양광</a:t>
                  </a:r>
                </a:p>
              </p:txBody>
            </p:sp>
            <p:sp>
              <p:nvSpPr>
                <p:cNvPr id="415" name="TB416"/>
                <p:cNvSpPr txBox="1"/>
                <p:nvPr/>
              </p:nvSpPr>
              <p:spPr>
                <a:xfrm>
                  <a:off x="2740740" y="2059980"/>
                  <a:ext cx="1676400" cy="4318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 anchorCtr="0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buNone/>
                  </a:pPr>
                  <a:r>
                    <a:rPr lang="ko-KR" altLang="en-US" sz="1200" b="1" dirty="0">
                      <a:solidFill>
                        <a:srgbClr val="404040"/>
                      </a:solidFill>
                      <a:latin typeface="S-Core Dream 6 Bold" panose="020B0503030302020204" pitchFamily="34" charset="-127"/>
                      <a:ea typeface="S-Core Dream 6 Bold" panose="020B0503030302020204" pitchFamily="34" charset="-127"/>
                    </a:rPr>
                    <a:t>이웃 소비자</a:t>
                  </a:r>
                </a:p>
              </p:txBody>
            </p:sp>
            <p:sp>
              <p:nvSpPr>
                <p:cNvPr id="411" name="TB412"/>
                <p:cNvSpPr txBox="1"/>
                <p:nvPr/>
              </p:nvSpPr>
              <p:spPr>
                <a:xfrm>
                  <a:off x="777541" y="2081977"/>
                  <a:ext cx="1676398" cy="4317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 anchorCtr="0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buNone/>
                  </a:pPr>
                  <a:r>
                    <a:rPr lang="ko-KR" altLang="en-US" sz="1200" b="1" dirty="0">
                      <a:solidFill>
                        <a:srgbClr val="404040"/>
                      </a:solidFill>
                      <a:latin typeface="S-Core Dream 6 Bold" panose="020B0503030302020204" pitchFamily="34" charset="-127"/>
                      <a:ea typeface="S-Core Dream 6 Bold" panose="020B0503030302020204" pitchFamily="34" charset="-127"/>
                    </a:rPr>
                    <a:t>풍력 발전</a:t>
                  </a:r>
                </a:p>
              </p:txBody>
            </p:sp>
            <p:sp>
              <p:nvSpPr>
                <p:cNvPr id="413" name="TB414"/>
                <p:cNvSpPr txBox="1"/>
                <p:nvPr/>
              </p:nvSpPr>
              <p:spPr>
                <a:xfrm>
                  <a:off x="895054" y="3813903"/>
                  <a:ext cx="1676398" cy="4317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 anchorCtr="0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buNone/>
                  </a:pPr>
                  <a:r>
                    <a:rPr lang="ko-KR" altLang="en-US" sz="1200" b="1" dirty="0">
                      <a:solidFill>
                        <a:srgbClr val="404040"/>
                      </a:solidFill>
                      <a:latin typeface="S-Core Dream 6 Bold" panose="020B0503030302020204" pitchFamily="34" charset="-127"/>
                      <a:ea typeface="S-Core Dream 6 Bold" panose="020B0503030302020204" pitchFamily="34" charset="-127"/>
                    </a:rPr>
                    <a:t>전력 공급자</a:t>
                  </a:r>
                </a:p>
              </p:txBody>
            </p:sp>
            <p:sp>
              <p:nvSpPr>
                <p:cNvPr id="417" name="TB418"/>
                <p:cNvSpPr txBox="1"/>
                <p:nvPr/>
              </p:nvSpPr>
              <p:spPr>
                <a:xfrm>
                  <a:off x="3114150" y="2881209"/>
                  <a:ext cx="1676398" cy="4317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 anchorCtr="0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buNone/>
                  </a:pPr>
                  <a:r>
                    <a:rPr lang="ko-KR" altLang="en-US" sz="1200" b="1" dirty="0">
                      <a:solidFill>
                        <a:srgbClr val="404040"/>
                      </a:solidFill>
                      <a:latin typeface="S-Core Dream 6 Bold" panose="020B0503030302020204" pitchFamily="34" charset="-127"/>
                      <a:ea typeface="S-Core Dream 6 Bold" panose="020B0503030302020204" pitchFamily="34" charset="-127"/>
                    </a:rPr>
                    <a:t>전기차 충전</a:t>
                  </a:r>
                </a:p>
              </p:txBody>
            </p:sp>
            <p:sp>
              <p:nvSpPr>
                <p:cNvPr id="419" name="TB420"/>
                <p:cNvSpPr txBox="1"/>
                <p:nvPr/>
              </p:nvSpPr>
              <p:spPr>
                <a:xfrm>
                  <a:off x="2403706" y="3813903"/>
                  <a:ext cx="1676398" cy="4317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 anchorCtr="0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buNone/>
                  </a:pPr>
                  <a:r>
                    <a:rPr lang="ko-KR" altLang="en-US" sz="1200" b="1" dirty="0">
                      <a:solidFill>
                        <a:srgbClr val="404040"/>
                      </a:solidFill>
                      <a:latin typeface="S-Core Dream 6 Bold" panose="020B0503030302020204" pitchFamily="34" charset="-127"/>
                      <a:ea typeface="S-Core Dream 6 Bold" panose="020B0503030302020204" pitchFamily="34" charset="-127"/>
                    </a:rPr>
                    <a:t>ESS 저장</a:t>
                  </a:r>
                </a:p>
              </p:txBody>
            </p:sp>
            <p:grpSp>
              <p:nvGrpSpPr>
                <p:cNvPr id="10" name="그룹 9">
                  <a:extLst>
                    <a:ext uri="{FF2B5EF4-FFF2-40B4-BE49-F238E27FC236}">
                      <a16:creationId xmlns:a16="http://schemas.microsoft.com/office/drawing/2014/main" id="{10B863B5-F1D0-E058-BB0D-F8A8C0329E0B}"/>
                    </a:ext>
                  </a:extLst>
                </p:cNvPr>
                <p:cNvGrpSpPr/>
                <p:nvPr/>
              </p:nvGrpSpPr>
              <p:grpSpPr>
                <a:xfrm>
                  <a:off x="945651" y="1666518"/>
                  <a:ext cx="3185866" cy="2041882"/>
                  <a:chOff x="1368505" y="1498600"/>
                  <a:chExt cx="3185866" cy="2041882"/>
                </a:xfrm>
              </p:grpSpPr>
              <p:sp>
                <p:nvSpPr>
                  <p:cNvPr id="402" name="AR403"/>
                  <p:cNvSpPr/>
                  <p:nvPr/>
                </p:nvSpPr>
                <p:spPr>
                  <a:xfrm>
                    <a:off x="2387596" y="1920923"/>
                    <a:ext cx="263449" cy="250652"/>
                  </a:xfrm>
                  <a:prstGeom prst="line">
                    <a:avLst/>
                  </a:prstGeom>
                  <a:ln w="22225">
                    <a:solidFill>
                      <a:srgbClr val="7D0403"/>
                    </a:solidFill>
                    <a:tailEnd type="triangle" w="med" len="med"/>
                  </a:ln>
                </p:spPr>
                <p:txBody>
                  <a:bodyPr/>
                  <a:lstStyle/>
                  <a:p>
                    <a:endParaRPr lang="ko-KR" b="1">
                      <a:latin typeface="S-Core Dream 6 Bold" panose="020B0503030302020204" pitchFamily="34" charset="-127"/>
                      <a:ea typeface="S-Core Dream 6 Bold" panose="020B0503030302020204" pitchFamily="34" charset="-127"/>
                    </a:endParaRPr>
                  </a:p>
                </p:txBody>
              </p:sp>
              <p:sp>
                <p:nvSpPr>
                  <p:cNvPr id="403" name="AR404"/>
                  <p:cNvSpPr/>
                  <p:nvPr/>
                </p:nvSpPr>
                <p:spPr>
                  <a:xfrm>
                    <a:off x="1923304" y="2483215"/>
                    <a:ext cx="541851" cy="0"/>
                  </a:xfrm>
                  <a:prstGeom prst="line">
                    <a:avLst/>
                  </a:prstGeom>
                  <a:ln w="22225">
                    <a:solidFill>
                      <a:srgbClr val="7D0403"/>
                    </a:solidFill>
                    <a:tailEnd type="triangle" w="med" len="med"/>
                  </a:ln>
                </p:spPr>
                <p:txBody>
                  <a:bodyPr/>
                  <a:lstStyle/>
                  <a:p>
                    <a:endParaRPr lang="ko-KR" b="1">
                      <a:latin typeface="S-Core Dream 6 Bold" panose="020B0503030302020204" pitchFamily="34" charset="-127"/>
                      <a:ea typeface="S-Core Dream 6 Bold" panose="020B0503030302020204" pitchFamily="34" charset="-127"/>
                    </a:endParaRPr>
                  </a:p>
                </p:txBody>
              </p:sp>
              <p:sp>
                <p:nvSpPr>
                  <p:cNvPr id="404" name="AR405"/>
                  <p:cNvSpPr/>
                  <p:nvPr/>
                </p:nvSpPr>
                <p:spPr>
                  <a:xfrm flipV="1">
                    <a:off x="2325748" y="2886164"/>
                    <a:ext cx="280671" cy="188709"/>
                  </a:xfrm>
                  <a:prstGeom prst="line">
                    <a:avLst/>
                  </a:prstGeom>
                  <a:ln w="22225">
                    <a:solidFill>
                      <a:srgbClr val="7D0403"/>
                    </a:solidFill>
                    <a:tailEnd type="triangle" w="med" len="med"/>
                  </a:ln>
                </p:spPr>
                <p:txBody>
                  <a:bodyPr/>
                  <a:lstStyle/>
                  <a:p>
                    <a:endParaRPr lang="ko-KR" b="1">
                      <a:latin typeface="S-Core Dream 6 Bold" panose="020B0503030302020204" pitchFamily="34" charset="-127"/>
                      <a:ea typeface="S-Core Dream 6 Bold" panose="020B0503030302020204" pitchFamily="34" charset="-127"/>
                    </a:endParaRPr>
                  </a:p>
                </p:txBody>
              </p:sp>
              <p:sp>
                <p:nvSpPr>
                  <p:cNvPr id="405" name="AR406"/>
                  <p:cNvSpPr/>
                  <p:nvPr/>
                </p:nvSpPr>
                <p:spPr>
                  <a:xfrm flipV="1">
                    <a:off x="3274751" y="1935927"/>
                    <a:ext cx="244333" cy="260200"/>
                  </a:xfrm>
                  <a:prstGeom prst="line">
                    <a:avLst/>
                  </a:prstGeom>
                  <a:ln w="22225">
                    <a:solidFill>
                      <a:srgbClr val="7D0403"/>
                    </a:solidFill>
                    <a:headEnd type="triangle" w="med" len="med"/>
                    <a:tailEnd type="triangle" w="med" len="med"/>
                  </a:ln>
                </p:spPr>
                <p:txBody>
                  <a:bodyPr/>
                  <a:lstStyle/>
                  <a:p>
                    <a:endParaRPr lang="ko-KR" b="1">
                      <a:latin typeface="S-Core Dream 6 Bold" panose="020B0503030302020204" pitchFamily="34" charset="-127"/>
                      <a:ea typeface="S-Core Dream 6 Bold" panose="020B0503030302020204" pitchFamily="34" charset="-127"/>
                    </a:endParaRPr>
                  </a:p>
                </p:txBody>
              </p:sp>
              <p:sp>
                <p:nvSpPr>
                  <p:cNvPr id="406" name="AR407"/>
                  <p:cNvSpPr/>
                  <p:nvPr/>
                </p:nvSpPr>
                <p:spPr>
                  <a:xfrm>
                    <a:off x="3485471" y="2483215"/>
                    <a:ext cx="501694" cy="0"/>
                  </a:xfrm>
                  <a:prstGeom prst="line">
                    <a:avLst/>
                  </a:prstGeom>
                  <a:ln w="22225">
                    <a:solidFill>
                      <a:srgbClr val="7D0403"/>
                    </a:solidFill>
                    <a:tailEnd type="triangle" w="med" len="med"/>
                  </a:ln>
                </p:spPr>
                <p:txBody>
                  <a:bodyPr/>
                  <a:lstStyle/>
                  <a:p>
                    <a:endParaRPr lang="ko-KR" b="1">
                      <a:latin typeface="S-Core Dream 6 Bold" panose="020B0503030302020204" pitchFamily="34" charset="-127"/>
                      <a:ea typeface="S-Core Dream 6 Bold" panose="020B0503030302020204" pitchFamily="34" charset="-127"/>
                    </a:endParaRPr>
                  </a:p>
                </p:txBody>
              </p:sp>
              <p:sp>
                <p:nvSpPr>
                  <p:cNvPr id="407" name="AR408"/>
                  <p:cNvSpPr/>
                  <p:nvPr/>
                </p:nvSpPr>
                <p:spPr>
                  <a:xfrm>
                    <a:off x="3274751" y="2886165"/>
                    <a:ext cx="244332" cy="188712"/>
                  </a:xfrm>
                  <a:prstGeom prst="line">
                    <a:avLst/>
                  </a:prstGeom>
                  <a:ln w="22225">
                    <a:solidFill>
                      <a:srgbClr val="7D0403"/>
                    </a:solidFill>
                    <a:tailEnd type="triangle" w="med" len="med"/>
                  </a:ln>
                </p:spPr>
                <p:txBody>
                  <a:bodyPr/>
                  <a:lstStyle/>
                  <a:p>
                    <a:endParaRPr lang="ko-KR" b="1">
                      <a:latin typeface="S-Core Dream 6 Bold" panose="020B0503030302020204" pitchFamily="34" charset="-127"/>
                      <a:ea typeface="S-Core Dream 6 Bold" panose="020B0503030302020204" pitchFamily="34" charset="-127"/>
                    </a:endParaRPr>
                  </a:p>
                </p:txBody>
              </p:sp>
              <p:sp>
                <p:nvSpPr>
                  <p:cNvPr id="420" name="SH421"/>
                  <p:cNvSpPr/>
                  <p:nvPr/>
                </p:nvSpPr>
                <p:spPr>
                  <a:xfrm>
                    <a:off x="2554348" y="2116854"/>
                    <a:ext cx="814541" cy="814542"/>
                  </a:xfrm>
                  <a:prstGeom prst="ellipse">
                    <a:avLst/>
                  </a:prstGeom>
                  <a:solidFill>
                    <a:srgbClr val="7D0403"/>
                  </a:solidFill>
                  <a:ln>
                    <a:solidFill>
                      <a:srgbClr val="7D0403"/>
                    </a:solidFill>
                  </a:ln>
                </p:spPr>
                <p:txBody>
                  <a:bodyPr wrap="none" lIns="0" tIns="0" rIns="0" bIns="0" anchor="ctr">
                    <a:noAutofit/>
                  </a:bodyPr>
                  <a:lstStyle/>
                  <a:p>
                    <a:pPr algn="ctr">
                      <a:buNone/>
                    </a:pPr>
                    <a:r>
                      <a:rPr lang="ko-KR" sz="1500" b="1" dirty="0">
                        <a:solidFill>
                          <a:srgbClr val="FFFFFF"/>
                        </a:solidFill>
                        <a:latin typeface="S-Core Dream 6 Bold" panose="020B0503030302020204" pitchFamily="34" charset="-127"/>
                        <a:ea typeface="S-Core Dream 6 Bold" panose="020B0503030302020204" pitchFamily="34" charset="-127"/>
                      </a:rPr>
                      <a:t>소비자</a:t>
                    </a:r>
                  </a:p>
                </p:txBody>
              </p:sp>
              <p:grpSp>
                <p:nvGrpSpPr>
                  <p:cNvPr id="4" name="그룹 3">
                    <a:extLst>
                      <a:ext uri="{FF2B5EF4-FFF2-40B4-BE49-F238E27FC236}">
                        <a16:creationId xmlns:a16="http://schemas.microsoft.com/office/drawing/2014/main" id="{196181E5-2730-D077-F5DC-850FD302E18F}"/>
                      </a:ext>
                    </a:extLst>
                  </p:cNvPr>
                  <p:cNvGrpSpPr/>
                  <p:nvPr/>
                </p:nvGrpSpPr>
                <p:grpSpPr>
                  <a:xfrm>
                    <a:off x="1923304" y="1498600"/>
                    <a:ext cx="465606" cy="465606"/>
                    <a:chOff x="1981197" y="2527297"/>
                    <a:chExt cx="609599" cy="609599"/>
                  </a:xfrm>
                </p:grpSpPr>
                <p:sp>
                  <p:nvSpPr>
                    <p:cNvPr id="408" name="SH409"/>
                    <p:cNvSpPr/>
                    <p:nvPr/>
                  </p:nvSpPr>
                  <p:spPr>
                    <a:xfrm>
                      <a:off x="1981197" y="2527297"/>
                      <a:ext cx="609599" cy="609599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12700">
                      <a:solidFill>
                        <a:srgbClr val="7D0403"/>
                      </a:solidFill>
                    </a:ln>
                  </p:spPr>
                  <p:txBody>
                    <a:bodyPr wrap="none" lIns="0" tIns="0" rIns="0" bIns="0" anchor="ctr">
                      <a:noAutofit/>
                    </a:bodyPr>
                    <a:lstStyle/>
                    <a:p>
                      <a:endParaRPr lang="ko-KR" b="1">
                        <a:latin typeface="S-Core Dream 6 Bold" panose="020B0503030302020204" pitchFamily="34" charset="-127"/>
                        <a:ea typeface="S-Core Dream 6 Bold" panose="020B0503030302020204" pitchFamily="34" charset="-127"/>
                      </a:endParaRPr>
                    </a:p>
                  </p:txBody>
                </p:sp>
                <p:pic>
                  <p:nvPicPr>
                    <p:cNvPr id="421" name="Graphic 421" descr="태양광"/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2133597" y="2679697"/>
                      <a:ext cx="304800" cy="304800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8" name="그룹 7">
                    <a:extLst>
                      <a:ext uri="{FF2B5EF4-FFF2-40B4-BE49-F238E27FC236}">
                        <a16:creationId xmlns:a16="http://schemas.microsoft.com/office/drawing/2014/main" id="{D1B3E16A-54EE-4D2E-C8F8-F7860978C3CF}"/>
                      </a:ext>
                    </a:extLst>
                  </p:cNvPr>
                  <p:cNvGrpSpPr/>
                  <p:nvPr/>
                </p:nvGrpSpPr>
                <p:grpSpPr>
                  <a:xfrm>
                    <a:off x="1923304" y="3074876"/>
                    <a:ext cx="465606" cy="465606"/>
                    <a:chOff x="1981197" y="4813294"/>
                    <a:chExt cx="609599" cy="609599"/>
                  </a:xfrm>
                </p:grpSpPr>
                <p:sp>
                  <p:nvSpPr>
                    <p:cNvPr id="412" name="SH413"/>
                    <p:cNvSpPr/>
                    <p:nvPr/>
                  </p:nvSpPr>
                  <p:spPr>
                    <a:xfrm>
                      <a:off x="1981197" y="4813294"/>
                      <a:ext cx="609599" cy="609599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12700">
                      <a:solidFill>
                        <a:srgbClr val="7D0403"/>
                      </a:solidFill>
                    </a:ln>
                  </p:spPr>
                  <p:txBody>
                    <a:bodyPr wrap="none" lIns="0" tIns="0" rIns="0" bIns="0" anchor="ctr">
                      <a:noAutofit/>
                    </a:bodyPr>
                    <a:lstStyle/>
                    <a:p>
                      <a:endParaRPr lang="ko-KR" b="1">
                        <a:latin typeface="S-Core Dream 6 Bold" panose="020B0503030302020204" pitchFamily="34" charset="-127"/>
                        <a:ea typeface="S-Core Dream 6 Bold" panose="020B0503030302020204" pitchFamily="34" charset="-127"/>
                      </a:endParaRPr>
                    </a:p>
                  </p:txBody>
                </p:sp>
                <p:pic>
                  <p:nvPicPr>
                    <p:cNvPr id="422" name="Graphic 422" descr="전력 공급자"/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5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2133597" y="4965694"/>
                      <a:ext cx="304800" cy="304800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5" name="그룹 4">
                    <a:extLst>
                      <a:ext uri="{FF2B5EF4-FFF2-40B4-BE49-F238E27FC236}">
                        <a16:creationId xmlns:a16="http://schemas.microsoft.com/office/drawing/2014/main" id="{302DF4AA-3A98-0842-3DD5-885B7BAF6559}"/>
                      </a:ext>
                    </a:extLst>
                  </p:cNvPr>
                  <p:cNvGrpSpPr/>
                  <p:nvPr/>
                </p:nvGrpSpPr>
                <p:grpSpPr>
                  <a:xfrm>
                    <a:off x="3462539" y="1498600"/>
                    <a:ext cx="465606" cy="465606"/>
                    <a:chOff x="3886194" y="2527297"/>
                    <a:chExt cx="609599" cy="609599"/>
                  </a:xfrm>
                </p:grpSpPr>
                <p:sp>
                  <p:nvSpPr>
                    <p:cNvPr id="414" name="SH415"/>
                    <p:cNvSpPr/>
                    <p:nvPr/>
                  </p:nvSpPr>
                  <p:spPr>
                    <a:xfrm>
                      <a:off x="3886194" y="2527297"/>
                      <a:ext cx="609599" cy="609599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12700">
                      <a:solidFill>
                        <a:srgbClr val="7D0403"/>
                      </a:solidFill>
                    </a:ln>
                  </p:spPr>
                  <p:txBody>
                    <a:bodyPr wrap="none" lIns="0" tIns="0" rIns="0" bIns="0" anchor="ctr">
                      <a:noAutofit/>
                    </a:bodyPr>
                    <a:lstStyle/>
                    <a:p>
                      <a:endParaRPr lang="ko-KR" b="1">
                        <a:latin typeface="S-Core Dream 6 Bold" panose="020B0503030302020204" pitchFamily="34" charset="-127"/>
                        <a:ea typeface="S-Core Dream 6 Bold" panose="020B0503030302020204" pitchFamily="34" charset="-127"/>
                      </a:endParaRPr>
                    </a:p>
                  </p:txBody>
                </p:sp>
                <p:pic>
                  <p:nvPicPr>
                    <p:cNvPr id="423" name="Graphic 423" descr="이웃 소비자"/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4038594" y="2679697"/>
                      <a:ext cx="304800" cy="304800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6" name="그룹 5">
                    <a:extLst>
                      <a:ext uri="{FF2B5EF4-FFF2-40B4-BE49-F238E27FC236}">
                        <a16:creationId xmlns:a16="http://schemas.microsoft.com/office/drawing/2014/main" id="{5B1DF305-A998-C747-FDBA-46B018714D08}"/>
                      </a:ext>
                    </a:extLst>
                  </p:cNvPr>
                  <p:cNvGrpSpPr/>
                  <p:nvPr/>
                </p:nvGrpSpPr>
                <p:grpSpPr>
                  <a:xfrm>
                    <a:off x="4088765" y="2219567"/>
                    <a:ext cx="465606" cy="465606"/>
                    <a:chOff x="4838693" y="3670296"/>
                    <a:chExt cx="609599" cy="609599"/>
                  </a:xfrm>
                </p:grpSpPr>
                <p:sp>
                  <p:nvSpPr>
                    <p:cNvPr id="416" name="SH417"/>
                    <p:cNvSpPr/>
                    <p:nvPr/>
                  </p:nvSpPr>
                  <p:spPr>
                    <a:xfrm>
                      <a:off x="4838693" y="3670296"/>
                      <a:ext cx="609599" cy="609599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12700">
                      <a:solidFill>
                        <a:srgbClr val="7D0403"/>
                      </a:solidFill>
                    </a:ln>
                  </p:spPr>
                  <p:txBody>
                    <a:bodyPr wrap="none" lIns="0" tIns="0" rIns="0" bIns="0" anchor="ctr">
                      <a:noAutofit/>
                    </a:bodyPr>
                    <a:lstStyle/>
                    <a:p>
                      <a:endParaRPr lang="ko-KR" b="1">
                        <a:latin typeface="S-Core Dream 6 Bold" panose="020B0503030302020204" pitchFamily="34" charset="-127"/>
                        <a:ea typeface="S-Core Dream 6 Bold" panose="020B0503030302020204" pitchFamily="34" charset="-127"/>
                      </a:endParaRPr>
                    </a:p>
                  </p:txBody>
                </p:sp>
                <p:pic>
                  <p:nvPicPr>
                    <p:cNvPr id="424" name="Graphic 424" descr="전기차"/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7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4991092" y="3822695"/>
                      <a:ext cx="304800" cy="304800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7" name="그룹 6">
                    <a:extLst>
                      <a:ext uri="{FF2B5EF4-FFF2-40B4-BE49-F238E27FC236}">
                        <a16:creationId xmlns:a16="http://schemas.microsoft.com/office/drawing/2014/main" id="{ECAE9EA6-90C4-4DA8-69C0-BE7A593F04CA}"/>
                      </a:ext>
                    </a:extLst>
                  </p:cNvPr>
                  <p:cNvGrpSpPr/>
                  <p:nvPr/>
                </p:nvGrpSpPr>
                <p:grpSpPr>
                  <a:xfrm>
                    <a:off x="3462539" y="3074876"/>
                    <a:ext cx="465606" cy="465606"/>
                    <a:chOff x="3886194" y="4813294"/>
                    <a:chExt cx="609599" cy="609599"/>
                  </a:xfrm>
                </p:grpSpPr>
                <p:sp>
                  <p:nvSpPr>
                    <p:cNvPr id="418" name="SH419"/>
                    <p:cNvSpPr/>
                    <p:nvPr/>
                  </p:nvSpPr>
                  <p:spPr>
                    <a:xfrm>
                      <a:off x="3886194" y="4813294"/>
                      <a:ext cx="609599" cy="609599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12700">
                      <a:solidFill>
                        <a:srgbClr val="7D0403"/>
                      </a:solidFill>
                    </a:ln>
                  </p:spPr>
                  <p:txBody>
                    <a:bodyPr wrap="none" lIns="0" tIns="0" rIns="0" bIns="0" anchor="ctr">
                      <a:noAutofit/>
                    </a:bodyPr>
                    <a:lstStyle/>
                    <a:p>
                      <a:endParaRPr lang="ko-KR" b="1">
                        <a:latin typeface="S-Core Dream 6 Bold" panose="020B0503030302020204" pitchFamily="34" charset="-127"/>
                        <a:ea typeface="S-Core Dream 6 Bold" panose="020B0503030302020204" pitchFamily="34" charset="-127"/>
                      </a:endParaRPr>
                    </a:p>
                  </p:txBody>
                </p:sp>
                <p:pic>
                  <p:nvPicPr>
                    <p:cNvPr id="425" name="Graphic 425" descr="ESS 저장"/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8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4038594" y="4965694"/>
                      <a:ext cx="304800" cy="304800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9" name="그룹 8">
                    <a:extLst>
                      <a:ext uri="{FF2B5EF4-FFF2-40B4-BE49-F238E27FC236}">
                        <a16:creationId xmlns:a16="http://schemas.microsoft.com/office/drawing/2014/main" id="{CC1E0C65-46AC-F438-DCD1-E02686D8FBF6}"/>
                      </a:ext>
                    </a:extLst>
                  </p:cNvPr>
                  <p:cNvGrpSpPr/>
                  <p:nvPr/>
                </p:nvGrpSpPr>
                <p:grpSpPr>
                  <a:xfrm>
                    <a:off x="1368505" y="2250412"/>
                    <a:ext cx="465606" cy="465606"/>
                    <a:chOff x="1028698" y="3670296"/>
                    <a:chExt cx="609599" cy="609599"/>
                  </a:xfrm>
                </p:grpSpPr>
                <p:sp>
                  <p:nvSpPr>
                    <p:cNvPr id="410" name="SH411"/>
                    <p:cNvSpPr/>
                    <p:nvPr/>
                  </p:nvSpPr>
                  <p:spPr>
                    <a:xfrm>
                      <a:off x="1028698" y="3670296"/>
                      <a:ext cx="609599" cy="609599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12700">
                      <a:solidFill>
                        <a:srgbClr val="7D0403"/>
                      </a:solidFill>
                    </a:ln>
                  </p:spPr>
                  <p:txBody>
                    <a:bodyPr wrap="none" lIns="0" tIns="0" rIns="0" bIns="0" anchor="ctr">
                      <a:noAutofit/>
                    </a:bodyPr>
                    <a:lstStyle/>
                    <a:p>
                      <a:endParaRPr lang="ko-KR" b="1">
                        <a:latin typeface="S-Core Dream 6 Bold" panose="020B0503030302020204" pitchFamily="34" charset="-127"/>
                        <a:ea typeface="S-Core Dream 6 Bold" panose="020B0503030302020204" pitchFamily="34" charset="-127"/>
                      </a:endParaRPr>
                    </a:p>
                  </p:txBody>
                </p:sp>
                <p:pic>
                  <p:nvPicPr>
                    <p:cNvPr id="426" name="Graphic 426" descr="풍력 발전"/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9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181098" y="3822695"/>
                      <a:ext cx="304800" cy="304800"/>
                    </a:xfrm>
                    <a:prstGeom prst="rect">
                      <a:avLst/>
                    </a:prstGeom>
                  </p:spPr>
                </p:pic>
              </p:grpSp>
            </p:grpSp>
          </p:grp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B17F7A8-CEFE-25E7-A2A0-F173F3C3E706}"/>
                </a:ext>
              </a:extLst>
            </p:cNvPr>
            <p:cNvSpPr txBox="1"/>
            <p:nvPr/>
          </p:nvSpPr>
          <p:spPr>
            <a:xfrm>
              <a:off x="467698" y="4386978"/>
              <a:ext cx="5691531" cy="14349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  <a:spcAft>
                  <a:spcPts val="400"/>
                </a:spcAft>
              </a:pPr>
              <a:r>
                <a:rPr lang="ko-KR" altLang="en-US" sz="1400" dirty="0">
                  <a:solidFill>
                    <a:srgbClr val="333333"/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에너지 </a:t>
              </a:r>
              <a:r>
                <a:rPr lang="ko-KR" altLang="en-US" sz="1400" dirty="0" err="1">
                  <a:solidFill>
                    <a:srgbClr val="333333"/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프로슈머</a:t>
              </a:r>
              <a:r>
                <a:rPr lang="ko-KR" altLang="en-US" sz="1400" dirty="0">
                  <a:solidFill>
                    <a:srgbClr val="333333"/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 </a:t>
              </a:r>
              <a:r>
                <a:rPr lang="en-US" altLang="ko-KR" sz="1400" dirty="0">
                  <a:solidFill>
                    <a:srgbClr val="333333"/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(Energy Prosumer)</a:t>
              </a:r>
            </a:p>
            <a:p>
              <a:pPr latinLnBrk="0">
                <a:lnSpc>
                  <a:spcPct val="150000"/>
                </a:lnSpc>
                <a:spcAft>
                  <a:spcPts val="100"/>
                </a:spcAft>
              </a:pPr>
              <a:r>
                <a:rPr lang="ko-KR" altLang="en-US" sz="1050" dirty="0">
                  <a:solidFill>
                    <a:srgbClr val="707070"/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가정에서 직접 전기를 생산해 소비하고</a:t>
              </a:r>
              <a:r>
                <a:rPr lang="en-US" altLang="ko-KR" sz="1050" dirty="0">
                  <a:solidFill>
                    <a:srgbClr val="707070"/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,</a:t>
              </a:r>
              <a:r>
                <a:rPr lang="ko-KR" altLang="en-US" sz="1050" dirty="0">
                  <a:solidFill>
                    <a:srgbClr val="707070"/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 남는 전기를 이웃이나 전력 회사에 직접 파는 주체</a:t>
              </a:r>
              <a:r>
                <a:rPr lang="en-US" altLang="ko-KR" sz="1050" dirty="0">
                  <a:solidFill>
                    <a:srgbClr val="707070"/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 </a:t>
              </a:r>
            </a:p>
            <a:p>
              <a:pPr latinLnBrk="0">
                <a:lnSpc>
                  <a:spcPct val="150000"/>
                </a:lnSpc>
                <a:spcAft>
                  <a:spcPts val="100"/>
                </a:spcAft>
              </a:pPr>
              <a:endParaRPr lang="en-US" altLang="ko-KR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endParaRPr>
            </a:p>
            <a:p>
              <a:pPr latinLnBrk="0">
                <a:lnSpc>
                  <a:spcPct val="150000"/>
                </a:lnSpc>
                <a:spcAft>
                  <a:spcPts val="100"/>
                </a:spcAft>
              </a:pPr>
              <a:r>
                <a:rPr lang="ko-KR" altLang="en-US" sz="1050" dirty="0">
                  <a:solidFill>
                    <a:srgbClr val="707070"/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과거에는 전력 회사가 공급하는 전기만 일방적으로 구매했지만</a:t>
              </a:r>
              <a:r>
                <a:rPr lang="en-US" altLang="ko-KR" sz="1050" dirty="0">
                  <a:solidFill>
                    <a:srgbClr val="707070"/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, </a:t>
              </a:r>
              <a:r>
                <a:rPr lang="ko-KR" altLang="en-US" sz="1050" dirty="0">
                  <a:solidFill>
                    <a:srgbClr val="707070"/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태양광 패널과 가정용 배터리</a:t>
              </a:r>
              <a:r>
                <a:rPr lang="en-US" altLang="ko-KR" sz="1050" dirty="0">
                  <a:solidFill>
                    <a:srgbClr val="707070"/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(ESS)</a:t>
              </a:r>
              <a:r>
                <a:rPr lang="ko-KR" altLang="en-US" sz="1050" dirty="0">
                  <a:solidFill>
                    <a:srgbClr val="707070"/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의 보급으로 개인이 전기의 생산자</a:t>
              </a:r>
              <a:r>
                <a:rPr lang="en-US" altLang="ko-KR" sz="1050" dirty="0">
                  <a:solidFill>
                    <a:srgbClr val="707070"/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(Producer)</a:t>
              </a:r>
              <a:r>
                <a:rPr lang="ko-KR" altLang="en-US" sz="1050" dirty="0">
                  <a:solidFill>
                    <a:srgbClr val="707070"/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이자 소비자</a:t>
              </a:r>
              <a:r>
                <a:rPr lang="en-US" altLang="ko-KR" sz="1050" dirty="0">
                  <a:solidFill>
                    <a:srgbClr val="707070"/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(Consumer)</a:t>
              </a:r>
              <a:r>
                <a:rPr lang="ko-KR" altLang="en-US" sz="1050" dirty="0">
                  <a:solidFill>
                    <a:srgbClr val="707070"/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가 된 것</a:t>
              </a:r>
              <a:endParaRPr lang="en-US" altLang="ko-KR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BED5BCB7-DB00-DF7C-B032-5835B5B25450}"/>
              </a:ext>
            </a:extLst>
          </p:cNvPr>
          <p:cNvSpPr txBox="1"/>
          <p:nvPr/>
        </p:nvSpPr>
        <p:spPr>
          <a:xfrm>
            <a:off x="578474" y="1544471"/>
            <a:ext cx="5158327" cy="2047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lang="ko-KR" altLang="en-US" sz="1400" dirty="0">
                <a:solidFill>
                  <a:srgbClr val="333333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해외</a:t>
            </a:r>
            <a:r>
              <a:rPr lang="en-US" altLang="ko-KR" sz="1400" dirty="0">
                <a:solidFill>
                  <a:srgbClr val="333333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(</a:t>
            </a:r>
            <a:r>
              <a:rPr lang="ko-KR" altLang="en-US" sz="1400" dirty="0">
                <a:solidFill>
                  <a:srgbClr val="333333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유럽</a:t>
            </a:r>
            <a:r>
              <a:rPr lang="en-US" altLang="ko-KR" sz="1400" dirty="0">
                <a:solidFill>
                  <a:srgbClr val="333333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·</a:t>
            </a:r>
            <a:r>
              <a:rPr lang="ko-KR" altLang="en-US" sz="1400" dirty="0">
                <a:solidFill>
                  <a:srgbClr val="333333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영국</a:t>
            </a:r>
            <a:r>
              <a:rPr lang="en-US" altLang="ko-KR" sz="1400" dirty="0">
                <a:solidFill>
                  <a:srgbClr val="333333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)</a:t>
            </a:r>
            <a:endParaRPr lang="en-US" altLang="ko-KR" sz="1050" dirty="0">
              <a:solidFill>
                <a:srgbClr val="707070"/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  <a:p>
            <a:pPr algn="l" latinLnBrk="0">
              <a:lnSpc>
                <a:spcPct val="150000"/>
              </a:lnSpc>
              <a:spcAft>
                <a:spcPts val="600"/>
              </a:spcAft>
            </a:pPr>
            <a:r>
              <a:rPr lang="ko-KR" altLang="en-US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실제 유럽</a:t>
            </a:r>
            <a:r>
              <a:rPr lang="en-US" altLang="ko-KR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(</a:t>
            </a:r>
            <a:r>
              <a:rPr lang="ko-KR" altLang="en-US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특히 독일</a:t>
            </a:r>
            <a:r>
              <a:rPr lang="en-US" altLang="ko-KR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,</a:t>
            </a:r>
            <a:r>
              <a:rPr lang="ko-KR" altLang="en-US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네덜란드</a:t>
            </a:r>
            <a:r>
              <a:rPr lang="en-US" altLang="ko-KR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,</a:t>
            </a:r>
            <a:r>
              <a:rPr lang="ko-KR" altLang="en-US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덴마크 등</a:t>
            </a:r>
            <a:r>
              <a:rPr lang="en-US" altLang="ko-KR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)</a:t>
            </a:r>
            <a:r>
              <a:rPr lang="ko-KR" altLang="en-US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은 태양광 등의 발전량이 너무 많아 도매 전기 가격이 </a:t>
            </a:r>
            <a:r>
              <a:rPr lang="en-US" altLang="ko-KR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0</a:t>
            </a:r>
            <a:r>
              <a:rPr lang="ko-KR" altLang="en-US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원 이하로 떨어지는 </a:t>
            </a:r>
            <a:r>
              <a:rPr lang="en-US" altLang="ko-KR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‘</a:t>
            </a:r>
            <a:r>
              <a:rPr lang="ko-KR" altLang="en-US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마이너스 가격</a:t>
            </a:r>
            <a:r>
              <a:rPr lang="en-US" altLang="ko-KR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’</a:t>
            </a:r>
            <a:r>
              <a:rPr lang="ko-KR" altLang="en-US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이 </a:t>
            </a:r>
            <a:r>
              <a:rPr lang="en-US" altLang="ko-KR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1</a:t>
            </a:r>
            <a:r>
              <a:rPr lang="ko-KR" altLang="en-US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년 중 수백 시간씩 발생</a:t>
            </a:r>
            <a:endParaRPr lang="en-US" altLang="ko-KR" sz="1050" dirty="0">
              <a:solidFill>
                <a:srgbClr val="707070"/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  <a:p>
            <a:pPr algn="l" latinLnBrk="0">
              <a:lnSpc>
                <a:spcPct val="150000"/>
              </a:lnSpc>
              <a:spcAft>
                <a:spcPts val="600"/>
              </a:spcAft>
            </a:pPr>
            <a:endParaRPr lang="en-US" altLang="ko-KR" sz="1050" dirty="0">
              <a:solidFill>
                <a:srgbClr val="707070"/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  <a:p>
            <a:pPr latinLnBrk="0">
              <a:lnSpc>
                <a:spcPct val="150000"/>
              </a:lnSpc>
              <a:spcAft>
                <a:spcPts val="600"/>
              </a:spcAft>
            </a:pPr>
            <a:r>
              <a:rPr lang="ko-KR" altLang="en-US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가정에서는 앱을 보다가 </a:t>
            </a:r>
            <a:r>
              <a:rPr lang="en-US" altLang="ko-KR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"</a:t>
            </a:r>
            <a:r>
              <a:rPr lang="ko-KR" altLang="en-US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지금 전기를 쓰면 돈을 준다</a:t>
            </a:r>
            <a:r>
              <a:rPr lang="en-US" altLang="ko-KR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"</a:t>
            </a:r>
            <a:r>
              <a:rPr lang="ko-KR" altLang="en-US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는 알림이 오면 전기차를 충전하거나 가정용 배터리를 채우고</a:t>
            </a:r>
            <a:r>
              <a:rPr lang="en-US" altLang="ko-KR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, </a:t>
            </a:r>
            <a:r>
              <a:rPr lang="ko-KR" altLang="en-US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전기가 비싸지는 저녁 시간에는 배터리에 모아둔 전기를 전력망에 비싸게 되팔아 실시간으로 수익 확보</a:t>
            </a:r>
            <a:endParaRPr lang="en-US" altLang="ko-KR" sz="1050" dirty="0">
              <a:solidFill>
                <a:srgbClr val="707070"/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3E26CF-A9A1-1107-BFA7-59ECBA7B5F2F}"/>
              </a:ext>
            </a:extLst>
          </p:cNvPr>
          <p:cNvSpPr txBox="1"/>
          <p:nvPr/>
        </p:nvSpPr>
        <p:spPr>
          <a:xfrm>
            <a:off x="578474" y="1544471"/>
            <a:ext cx="5158326" cy="3603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lang="ko-KR" altLang="en-US" sz="1400" dirty="0">
                <a:solidFill>
                  <a:srgbClr val="333333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한국</a:t>
            </a:r>
          </a:p>
          <a:p>
            <a:pPr algn="l">
              <a:lnSpc>
                <a:spcPct val="150000"/>
              </a:lnSpc>
              <a:spcAft>
                <a:spcPts val="100"/>
              </a:spcAft>
            </a:pPr>
            <a:r>
              <a:rPr lang="ko-KR" altLang="en-US" sz="1050" dirty="0" err="1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스마트미터</a:t>
            </a:r>
            <a:r>
              <a:rPr lang="en-US" altLang="ko-KR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(</a:t>
            </a:r>
            <a:r>
              <a:rPr lang="en" altLang="ko-KR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AMI)</a:t>
            </a:r>
            <a:r>
              <a:rPr lang="ko-KR" altLang="en-US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가 </a:t>
            </a:r>
            <a:r>
              <a:rPr lang="en-US" altLang="ko-KR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2024</a:t>
            </a:r>
            <a:r>
              <a:rPr lang="ko-KR" altLang="en-US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년 전국 약 </a:t>
            </a:r>
            <a:r>
              <a:rPr lang="en-US" altLang="ko-KR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2,005</a:t>
            </a:r>
            <a:r>
              <a:rPr lang="ko-KR" altLang="en-US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만 호에 보급 완료를 통한  실시간 요금</a:t>
            </a:r>
            <a:r>
              <a:rPr lang="en-US" altLang="ko-KR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·</a:t>
            </a:r>
            <a:r>
              <a:rPr lang="ko-KR" altLang="en-US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양방향 거래의 데이터 기반 존재</a:t>
            </a:r>
            <a:endParaRPr lang="en-US" altLang="ko-KR" sz="1050" dirty="0">
              <a:solidFill>
                <a:srgbClr val="707070"/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  <a:p>
            <a:pPr algn="l">
              <a:lnSpc>
                <a:spcPct val="150000"/>
              </a:lnSpc>
              <a:spcAft>
                <a:spcPts val="0"/>
              </a:spcAft>
            </a:pPr>
            <a:endParaRPr lang="en-US" altLang="ko-KR" sz="1050" dirty="0">
              <a:solidFill>
                <a:srgbClr val="707070"/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  <a:p>
            <a:pPr algn="l" latinLnBrk="0">
              <a:lnSpc>
                <a:spcPct val="150000"/>
              </a:lnSpc>
              <a:spcAft>
                <a:spcPts val="0"/>
              </a:spcAft>
            </a:pPr>
            <a:r>
              <a:rPr lang="ko-KR" altLang="en-US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개인 주택이 부족하다는 한계는 아파트 단지 전체를 하나의 거대한 발전소로 묶는 </a:t>
            </a:r>
            <a:r>
              <a:rPr lang="en-US" altLang="ko-KR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'</a:t>
            </a:r>
            <a:r>
              <a:rPr lang="ko-KR" altLang="en-US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아파트형 가상발전소</a:t>
            </a:r>
            <a:r>
              <a:rPr lang="en-US" altLang="ko-KR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(VPP)'</a:t>
            </a:r>
            <a:r>
              <a:rPr lang="ko-KR" altLang="en-US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로 해결</a:t>
            </a:r>
            <a:endParaRPr lang="en-US" altLang="ko-KR" sz="1050" dirty="0">
              <a:solidFill>
                <a:srgbClr val="707070"/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  <a:p>
            <a:pPr algn="l" latinLnBrk="0">
              <a:lnSpc>
                <a:spcPct val="150000"/>
              </a:lnSpc>
              <a:spcAft>
                <a:spcPts val="0"/>
              </a:spcAft>
            </a:pPr>
            <a:endParaRPr lang="en-US" altLang="ko-KR" sz="1050" dirty="0">
              <a:solidFill>
                <a:srgbClr val="707070"/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  <a:p>
            <a:pPr marL="171450" indent="-171450" algn="l" latinLnBrk="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옥상 태양광과 </a:t>
            </a:r>
            <a:r>
              <a:rPr lang="ko-KR" altLang="en-US" sz="1050" dirty="0" err="1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스마트미터</a:t>
            </a:r>
            <a:r>
              <a:rPr lang="en-US" altLang="ko-KR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(AMI): </a:t>
            </a:r>
            <a:r>
              <a:rPr lang="ko-KR" altLang="en-US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아파트 옥상에 대형 태양광을 설치하고</a:t>
            </a:r>
            <a:r>
              <a:rPr lang="en-US" altLang="ko-KR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, </a:t>
            </a:r>
            <a:r>
              <a:rPr lang="ko-KR" altLang="en-US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각 가정에 실시간 전력량계</a:t>
            </a:r>
            <a:r>
              <a:rPr lang="en-US" altLang="ko-KR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(</a:t>
            </a:r>
            <a:r>
              <a:rPr lang="ko-KR" altLang="en-US" sz="1050" dirty="0" err="1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스마트미터</a:t>
            </a:r>
            <a:r>
              <a:rPr lang="en-US" altLang="ko-KR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)</a:t>
            </a:r>
            <a:r>
              <a:rPr lang="ko-KR" altLang="en-US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보급</a:t>
            </a:r>
            <a:endParaRPr lang="en-US" altLang="ko-KR" sz="1050" dirty="0">
              <a:solidFill>
                <a:srgbClr val="707070"/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  <a:p>
            <a:pPr marL="171450" indent="-171450" algn="l" latinLnBrk="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ko-KR" sz="1050" dirty="0">
              <a:solidFill>
                <a:srgbClr val="707070"/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  <a:p>
            <a:pPr marL="171450" indent="-171450" algn="l" latinLnBrk="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단지형 </a:t>
            </a:r>
            <a:r>
              <a:rPr lang="ko-KR" altLang="en-US" sz="1050" dirty="0" err="1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에너테크</a:t>
            </a:r>
            <a:r>
              <a:rPr lang="ko-KR" altLang="en-US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비즈니스</a:t>
            </a:r>
            <a:r>
              <a:rPr lang="en-US" altLang="ko-KR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: </a:t>
            </a:r>
            <a:r>
              <a:rPr lang="ko-KR" altLang="en-US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이미 국내 몇몇 에너지 스타트업</a:t>
            </a:r>
            <a:r>
              <a:rPr lang="en-US" altLang="ko-KR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(</a:t>
            </a:r>
            <a:r>
              <a:rPr lang="ko-KR" altLang="en-US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예</a:t>
            </a:r>
            <a:r>
              <a:rPr lang="en-US" altLang="ko-KR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: </a:t>
            </a:r>
            <a:r>
              <a:rPr lang="ko-KR" altLang="en-US" sz="1050" dirty="0" err="1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그리에이트</a:t>
            </a:r>
            <a:r>
              <a:rPr lang="en-US" altLang="ko-KR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, </a:t>
            </a:r>
            <a:r>
              <a:rPr lang="ko-KR" altLang="en-US" sz="1050" dirty="0" err="1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해줌</a:t>
            </a:r>
            <a:r>
              <a:rPr lang="ko-KR" altLang="en-US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등</a:t>
            </a:r>
            <a:r>
              <a:rPr lang="en-US" altLang="ko-KR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)</a:t>
            </a:r>
            <a:r>
              <a:rPr lang="ko-KR" altLang="en-US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과 지자체는 아파트 주민들이 공동으로 생산한 태양광 전력을 단지 내 전력 소비가 많은 가정에 앱으로 판매하거나</a:t>
            </a:r>
            <a:r>
              <a:rPr lang="en-US" altLang="ko-KR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, </a:t>
            </a:r>
            <a:r>
              <a:rPr lang="ko-KR" altLang="en-US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아파트 공용 전기료를 절감하는 </a:t>
            </a:r>
            <a:r>
              <a:rPr lang="en-US" altLang="ko-KR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'</a:t>
            </a:r>
            <a:r>
              <a:rPr lang="ko-KR" altLang="en-US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단지 내 전력 공유 서비스</a:t>
            </a:r>
            <a:r>
              <a:rPr lang="en-US" altLang="ko-KR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'</a:t>
            </a:r>
            <a:r>
              <a:rPr lang="ko-KR" altLang="en-US" sz="1050" dirty="0" err="1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를</a:t>
            </a:r>
            <a:r>
              <a:rPr lang="ko-KR" altLang="en-US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실증 특례</a:t>
            </a:r>
            <a:r>
              <a:rPr lang="en-US" altLang="ko-KR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(</a:t>
            </a:r>
            <a:r>
              <a:rPr lang="ko-KR" altLang="en-US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규제 </a:t>
            </a:r>
            <a:r>
              <a:rPr lang="ko-KR" altLang="en-US" sz="1050" dirty="0" err="1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샌드박스</a:t>
            </a:r>
            <a:r>
              <a:rPr lang="en-US" altLang="ko-KR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) </a:t>
            </a:r>
            <a:r>
              <a:rPr lang="ko-KR" altLang="en-US" sz="105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형태로 운영</a:t>
            </a:r>
            <a:endParaRPr lang="en-US" altLang="ko-KR" sz="1050" dirty="0">
              <a:solidFill>
                <a:srgbClr val="707070"/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9811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1" grpId="0"/>
      <p:bldP spid="21" grpId="1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66928" y="273346"/>
            <a:ext cx="10424160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dirty="0">
                <a:solidFill>
                  <a:srgbClr val="333333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1.  </a:t>
            </a:r>
            <a:r>
              <a:rPr sz="2500" b="1" dirty="0" err="1">
                <a:solidFill>
                  <a:srgbClr val="333333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연구배경</a:t>
            </a:r>
            <a:r>
              <a:rPr sz="2500" b="1" dirty="0">
                <a:solidFill>
                  <a:srgbClr val="333333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 </a:t>
            </a:r>
            <a:r>
              <a:rPr sz="2500" b="1" dirty="0" err="1">
                <a:solidFill>
                  <a:srgbClr val="333333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및</a:t>
            </a:r>
            <a:r>
              <a:rPr sz="2500" b="1" dirty="0">
                <a:solidFill>
                  <a:srgbClr val="333333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 </a:t>
            </a:r>
            <a:r>
              <a:rPr sz="2500" b="1" dirty="0" err="1">
                <a:solidFill>
                  <a:srgbClr val="333333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필요성</a:t>
            </a:r>
            <a:endParaRPr sz="2500" b="1" dirty="0">
              <a:solidFill>
                <a:srgbClr val="333333"/>
              </a:solidFill>
              <a:latin typeface="S-Core Dream 6 Bold" panose="020B0503030302020204" pitchFamily="34" charset="-127"/>
              <a:ea typeface="S-Core Dream 6 Bold" panose="020B0503030302020204" pitchFamily="34" charset="-127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796590"/>
            <a:ext cx="11064240" cy="18288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dirty="0"/>
          </a:p>
        </p:txBody>
      </p:sp>
      <p:sp>
        <p:nvSpPr>
          <p:cNvPr id="39" name="슬라이드 번호 개체 틀 38">
            <a:extLst>
              <a:ext uri="{FF2B5EF4-FFF2-40B4-BE49-F238E27FC236}">
                <a16:creationId xmlns:a16="http://schemas.microsoft.com/office/drawing/2014/main" id="{810D1DBF-A0C2-4614-AD85-531946770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9189" y="6420145"/>
            <a:ext cx="2743200" cy="365125"/>
          </a:xfrm>
        </p:spPr>
        <p:txBody>
          <a:bodyPr/>
          <a:lstStyle/>
          <a:p>
            <a:fld id="{7F40F4AC-C263-BF4D-B85D-2209F4D7F591}" type="slidenum">
              <a:rPr kumimoji="1" lang="ko-KR" altLang="en-US" smtClean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3</a:t>
            </a:fld>
            <a:endParaRPr kumimoji="1" lang="ko-KR" altLang="en-US" dirty="0"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  <p:graphicFrame>
        <p:nvGraphicFramePr>
          <p:cNvPr id="40" name="Chart 11">
            <a:extLst>
              <a:ext uri="{FF2B5EF4-FFF2-40B4-BE49-F238E27FC236}">
                <a16:creationId xmlns:a16="http://schemas.microsoft.com/office/drawing/2014/main" id="{256B06EC-F443-77FA-A2D5-6BDB3F27A7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4108624"/>
              </p:ext>
            </p:extLst>
          </p:nvPr>
        </p:nvGraphicFramePr>
        <p:xfrm>
          <a:off x="6370320" y="1851102"/>
          <a:ext cx="5120640" cy="217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9" name="TextBox 48">
            <a:extLst>
              <a:ext uri="{FF2B5EF4-FFF2-40B4-BE49-F238E27FC236}">
                <a16:creationId xmlns:a16="http://schemas.microsoft.com/office/drawing/2014/main" id="{14AA056D-8EF3-2EB1-A296-E36FE129A3D6}"/>
              </a:ext>
            </a:extLst>
          </p:cNvPr>
          <p:cNvSpPr txBox="1"/>
          <p:nvPr/>
        </p:nvSpPr>
        <p:spPr>
          <a:xfrm>
            <a:off x="6583680" y="292608"/>
            <a:ext cx="521208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2026 KETI AI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융합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응용기술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아이디어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경진대회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en-US" altLang="ko-KR"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차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중간발표회</a:t>
            </a:r>
            <a:endParaRPr sz="900" b="0" dirty="0">
              <a:solidFill>
                <a:srgbClr val="595959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B5A3D81-7D1D-28A8-E084-AFA0413C5A7A}"/>
              </a:ext>
            </a:extLst>
          </p:cNvPr>
          <p:cNvGrpSpPr/>
          <p:nvPr/>
        </p:nvGrpSpPr>
        <p:grpSpPr>
          <a:xfrm>
            <a:off x="576452" y="1198649"/>
            <a:ext cx="11039095" cy="3611092"/>
            <a:chOff x="451865" y="2044879"/>
            <a:chExt cx="11039095" cy="2761488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E450FD4E-3969-55E4-E176-133491E616A7}"/>
                </a:ext>
              </a:extLst>
            </p:cNvPr>
            <p:cNvGrpSpPr/>
            <p:nvPr/>
          </p:nvGrpSpPr>
          <p:grpSpPr>
            <a:xfrm>
              <a:off x="6096000" y="2044881"/>
              <a:ext cx="5394960" cy="2761486"/>
              <a:chOff x="1787352" y="1920239"/>
              <a:chExt cx="5394960" cy="2761488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C0A2731-3913-357C-1D10-4A3EBBA8CD08}"/>
                  </a:ext>
                </a:extLst>
              </p:cNvPr>
              <p:cNvSpPr txBox="1"/>
              <p:nvPr/>
            </p:nvSpPr>
            <p:spPr>
              <a:xfrm>
                <a:off x="2056337" y="4250349"/>
                <a:ext cx="4892040" cy="310341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Aft>
                    <a:spcPts val="200"/>
                  </a:spcAft>
                </a:pPr>
                <a:r>
                  <a:rPr sz="1000" b="1" dirty="0">
                    <a:solidFill>
                      <a:srgbClr val="9B1B30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2023년 3,661명 · 6년새 +52%  |  </a:t>
                </a:r>
                <a:r>
                  <a:rPr sz="1000" b="1" dirty="0" err="1">
                    <a:solidFill>
                      <a:srgbClr val="9B1B30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남성이</a:t>
                </a:r>
                <a:r>
                  <a:rPr sz="1000" b="1" dirty="0">
                    <a:solidFill>
                      <a:srgbClr val="9B1B30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 </a:t>
                </a:r>
                <a:r>
                  <a:rPr sz="1000" b="1" dirty="0" err="1">
                    <a:solidFill>
                      <a:srgbClr val="9B1B30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여성의</a:t>
                </a:r>
                <a:r>
                  <a:rPr sz="1000" b="1" dirty="0">
                    <a:solidFill>
                      <a:srgbClr val="9B1B30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 5.3배, 50~60대 </a:t>
                </a:r>
                <a:r>
                  <a:rPr sz="1000" b="1" dirty="0" err="1">
                    <a:solidFill>
                      <a:srgbClr val="9B1B30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최다</a:t>
                </a:r>
                <a:r>
                  <a:rPr sz="1000" b="1" dirty="0">
                    <a:solidFill>
                      <a:srgbClr val="9B1B30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(61.8%)</a:t>
                </a:r>
              </a:p>
              <a:p>
                <a:pPr algn="l">
                  <a:lnSpc>
                    <a:spcPct val="100000"/>
                  </a:lnSpc>
                  <a:spcAft>
                    <a:spcPts val="0"/>
                  </a:spcAft>
                </a:pPr>
                <a:r>
                  <a:rPr sz="850" b="0" dirty="0" err="1">
                    <a:solidFill>
                      <a:srgbClr val="707070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출처</a:t>
                </a:r>
                <a:r>
                  <a:rPr sz="850" b="0" dirty="0">
                    <a:solidFill>
                      <a:srgbClr val="707070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: </a:t>
                </a:r>
                <a:r>
                  <a:rPr sz="850" b="0" dirty="0" err="1">
                    <a:solidFill>
                      <a:srgbClr val="707070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보건복지부</a:t>
                </a:r>
                <a:r>
                  <a:rPr sz="850" b="0" dirty="0">
                    <a:solidFill>
                      <a:srgbClr val="707070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 </a:t>
                </a:r>
                <a:r>
                  <a:rPr sz="850" b="0" dirty="0" err="1">
                    <a:solidFill>
                      <a:srgbClr val="707070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고독사</a:t>
                </a:r>
                <a:r>
                  <a:rPr sz="850" b="0" dirty="0">
                    <a:solidFill>
                      <a:srgbClr val="707070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 </a:t>
                </a:r>
                <a:r>
                  <a:rPr sz="850" b="0" dirty="0" err="1">
                    <a:solidFill>
                      <a:srgbClr val="707070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실태조사</a:t>
                </a:r>
                <a:r>
                  <a:rPr sz="850" b="0" dirty="0">
                    <a:solidFill>
                      <a:srgbClr val="707070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(2024) · </a:t>
                </a:r>
                <a:r>
                  <a:rPr sz="850" b="0" dirty="0" err="1">
                    <a:solidFill>
                      <a:srgbClr val="707070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통계청</a:t>
                </a:r>
                <a:endParaRPr sz="850" b="0" dirty="0">
                  <a:solidFill>
                    <a:srgbClr val="707070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endParaRPr>
              </a:p>
            </p:txBody>
          </p:sp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69C258BC-1335-632B-AF74-F2B1D0A04EA9}"/>
                  </a:ext>
                </a:extLst>
              </p:cNvPr>
              <p:cNvGrpSpPr/>
              <p:nvPr/>
            </p:nvGrpSpPr>
            <p:grpSpPr>
              <a:xfrm>
                <a:off x="1787352" y="1920239"/>
                <a:ext cx="5394960" cy="2761488"/>
                <a:chOff x="1787352" y="1920239"/>
                <a:chExt cx="5394960" cy="2761488"/>
              </a:xfrm>
            </p:grpSpPr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7DF9AA06-668F-EA96-0828-08861DBCB3C1}"/>
                    </a:ext>
                  </a:extLst>
                </p:cNvPr>
                <p:cNvSpPr txBox="1"/>
                <p:nvPr/>
              </p:nvSpPr>
              <p:spPr>
                <a:xfrm>
                  <a:off x="2038812" y="2178300"/>
                  <a:ext cx="4892040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l">
                    <a:lnSpc>
                      <a:spcPct val="100000"/>
                    </a:lnSpc>
                    <a:spcAft>
                      <a:spcPts val="400"/>
                    </a:spcAft>
                  </a:pPr>
                  <a:r>
                    <a:rPr sz="1000" b="1" dirty="0" err="1">
                      <a:solidFill>
                        <a:srgbClr val="333333"/>
                      </a:solidFill>
                      <a:latin typeface="에스코어 드림 5 Medium" panose="020B0503030302020204" pitchFamily="34" charset="-127"/>
                      <a:ea typeface="에스코어 드림 5 Medium" panose="020B0503030302020204" pitchFamily="34" charset="-127"/>
                    </a:rPr>
                    <a:t>고독사</a:t>
                  </a:r>
                  <a:r>
                    <a:rPr sz="1000" b="1" dirty="0">
                      <a:solidFill>
                        <a:srgbClr val="333333"/>
                      </a:solidFill>
                      <a:latin typeface="에스코어 드림 5 Medium" panose="020B0503030302020204" pitchFamily="34" charset="-127"/>
                      <a:ea typeface="에스코어 드림 5 Medium" panose="020B0503030302020204" pitchFamily="34" charset="-127"/>
                    </a:rPr>
                    <a:t> </a:t>
                  </a:r>
                  <a:r>
                    <a:rPr sz="1000" b="1" dirty="0" err="1">
                      <a:solidFill>
                        <a:srgbClr val="333333"/>
                      </a:solidFill>
                      <a:latin typeface="에스코어 드림 5 Medium" panose="020B0503030302020204" pitchFamily="34" charset="-127"/>
                      <a:ea typeface="에스코어 드림 5 Medium" panose="020B0503030302020204" pitchFamily="34" charset="-127"/>
                    </a:rPr>
                    <a:t>사망자</a:t>
                  </a:r>
                  <a:r>
                    <a:rPr sz="1000" b="1" dirty="0">
                      <a:solidFill>
                        <a:srgbClr val="333333"/>
                      </a:solidFill>
                      <a:latin typeface="에스코어 드림 5 Medium" panose="020B0503030302020204" pitchFamily="34" charset="-127"/>
                      <a:ea typeface="에스코어 드림 5 Medium" panose="020B0503030302020204" pitchFamily="34" charset="-127"/>
                    </a:rPr>
                    <a:t> </a:t>
                  </a:r>
                  <a:r>
                    <a:rPr sz="1000" b="1" dirty="0" err="1">
                      <a:solidFill>
                        <a:srgbClr val="333333"/>
                      </a:solidFill>
                      <a:latin typeface="에스코어 드림 5 Medium" panose="020B0503030302020204" pitchFamily="34" charset="-127"/>
                      <a:ea typeface="에스코어 드림 5 Medium" panose="020B0503030302020204" pitchFamily="34" charset="-127"/>
                    </a:rPr>
                    <a:t>추이</a:t>
                  </a:r>
                  <a:r>
                    <a:rPr sz="1000" b="1" dirty="0">
                      <a:solidFill>
                        <a:srgbClr val="333333"/>
                      </a:solidFill>
                      <a:latin typeface="에스코어 드림 5 Medium" panose="020B0503030302020204" pitchFamily="34" charset="-127"/>
                      <a:ea typeface="에스코어 드림 5 Medium" panose="020B0503030302020204" pitchFamily="34" charset="-127"/>
                    </a:rPr>
                    <a:t> (명)</a:t>
                  </a:r>
                </a:p>
              </p:txBody>
            </p:sp>
            <p:sp>
              <p:nvSpPr>
                <p:cNvPr id="46" name="Rounded Rectangle 13">
                  <a:extLst>
                    <a:ext uri="{FF2B5EF4-FFF2-40B4-BE49-F238E27FC236}">
                      <a16:creationId xmlns:a16="http://schemas.microsoft.com/office/drawing/2014/main" id="{F8AA6003-5BCE-D9D8-9855-C0530681EFCA}"/>
                    </a:ext>
                  </a:extLst>
                </p:cNvPr>
                <p:cNvSpPr/>
                <p:nvPr/>
              </p:nvSpPr>
              <p:spPr>
                <a:xfrm>
                  <a:off x="1787352" y="1920239"/>
                  <a:ext cx="5394960" cy="2761488"/>
                </a:xfrm>
                <a:prstGeom prst="roundRect">
                  <a:avLst>
                    <a:gd name="adj" fmla="val 6000"/>
                  </a:avLst>
                </a:prstGeom>
                <a:noFill/>
                <a:ln w="9525">
                  <a:solidFill>
                    <a:srgbClr val="C8C8C8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endParaRPr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endParaRPr>
                </a:p>
              </p:txBody>
            </p:sp>
          </p:grpSp>
        </p:grpSp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0C3D28E7-921C-7A99-32AE-0F47C5318A62}"/>
                </a:ext>
              </a:extLst>
            </p:cNvPr>
            <p:cNvGrpSpPr/>
            <p:nvPr/>
          </p:nvGrpSpPr>
          <p:grpSpPr>
            <a:xfrm>
              <a:off x="451865" y="2044879"/>
              <a:ext cx="5410200" cy="2761488"/>
              <a:chOff x="6223000" y="1773936"/>
              <a:chExt cx="5410200" cy="2761488"/>
            </a:xfrm>
          </p:grpSpPr>
          <p:sp>
            <p:nvSpPr>
              <p:cNvPr id="120" name="Card Right"/>
              <p:cNvSpPr/>
              <p:nvPr/>
            </p:nvSpPr>
            <p:spPr>
              <a:xfrm>
                <a:off x="6223000" y="1773936"/>
                <a:ext cx="5410200" cy="2761488"/>
              </a:xfrm>
              <a:prstGeom prst="roundRect">
                <a:avLst>
                  <a:gd name="adj" fmla="val 4000"/>
                </a:avLst>
              </a:prstGeom>
              <a:solidFill>
                <a:srgbClr val="FFFFFF"/>
              </a:solidFill>
              <a:ln w="9525">
                <a:solidFill>
                  <a:srgbClr val="D9D9D9"/>
                </a:solidFill>
              </a:ln>
              <a:effectLst/>
            </p:spPr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121" name="Card Right Title"/>
              <p:cNvSpPr txBox="1"/>
              <p:nvPr/>
            </p:nvSpPr>
            <p:spPr>
              <a:xfrm>
                <a:off x="6426200" y="2032000"/>
                <a:ext cx="4953000" cy="153888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Aft>
                    <a:spcPts val="400"/>
                  </a:spcAft>
                </a:pPr>
                <a:r>
                  <a:rPr sz="1000" b="1" dirty="0">
                    <a:solidFill>
                      <a:srgbClr val="333333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1인 가구(1인 세대) 수 추이 (만 세대, 괄호는 전체 세대 중 비율)</a:t>
                </a:r>
              </a:p>
            </p:txBody>
          </p:sp>
          <p:sp>
            <p:nvSpPr>
              <p:cNvPr id="122" name="Card Right Note"/>
              <p:cNvSpPr txBox="1"/>
              <p:nvPr/>
            </p:nvSpPr>
            <p:spPr>
              <a:xfrm>
                <a:off x="6426200" y="4104046"/>
                <a:ext cx="4953000" cy="310388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Aft>
                    <a:spcPts val="200"/>
                  </a:spcAft>
                </a:pPr>
                <a:r>
                  <a:rPr sz="1000" b="1" dirty="0">
                    <a:solidFill>
                      <a:srgbClr val="9B1B30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2024년 1,012만 세대 · 전체의 42.0%  |  4년새 +11.6%</a:t>
                </a:r>
              </a:p>
              <a:p>
                <a:pPr algn="l">
                  <a:lnSpc>
                    <a:spcPct val="100000"/>
                  </a:lnSpc>
                  <a:spcAft>
                    <a:spcPts val="0"/>
                  </a:spcAft>
                </a:pPr>
                <a:r>
                  <a:rPr sz="850" b="0" dirty="0">
                    <a:solidFill>
                      <a:srgbClr val="707070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출처: 행정안전부 행정안전통계연보(각 연도 12월 31일 기준)</a:t>
                </a:r>
              </a:p>
            </p:txBody>
          </p:sp>
          <p:graphicFrame>
            <p:nvGraphicFramePr>
              <p:cNvPr id="123" name="Chart"/>
              <p:cNvGraphicFramePr/>
              <p:nvPr>
                <p:extLst>
                  <p:ext uri="{D42A27DB-BD31-4B8C-83A1-F6EECF244321}">
                    <p14:modId xmlns:p14="http://schemas.microsoft.com/office/powerpoint/2010/main" val="1600131794"/>
                  </p:ext>
                </p:extLst>
              </p:nvPr>
            </p:nvGraphicFramePr>
            <p:xfrm>
              <a:off x="6375400" y="2520579"/>
              <a:ext cx="4953000" cy="1447800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4"/>
              </a:graphicData>
            </a:graphic>
          </p:graphicFrame>
        </p:grpSp>
      </p:grpSp>
      <p:sp>
        <p:nvSpPr>
          <p:cNvPr id="2" name="Rounded Rectangle 42">
            <a:extLst>
              <a:ext uri="{FF2B5EF4-FFF2-40B4-BE49-F238E27FC236}">
                <a16:creationId xmlns:a16="http://schemas.microsoft.com/office/drawing/2014/main" id="{70912278-285D-9040-C157-89D4235E9760}"/>
              </a:ext>
            </a:extLst>
          </p:cNvPr>
          <p:cNvSpPr/>
          <p:nvPr/>
        </p:nvSpPr>
        <p:spPr>
          <a:xfrm>
            <a:off x="1201973" y="5356070"/>
            <a:ext cx="9789115" cy="822960"/>
          </a:xfrm>
          <a:prstGeom prst="roundRect">
            <a:avLst>
              <a:gd name="adj" fmla="val 1955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lang="en-US" altLang="ko-KR" sz="1600" dirty="0">
                <a:solidFill>
                  <a:schemeClr val="tx1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1</a:t>
            </a:r>
            <a:r>
              <a:rPr lang="ko-KR" altLang="en-US" sz="1600" dirty="0">
                <a:solidFill>
                  <a:schemeClr val="tx1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인 가구가 늘어난 만큼</a:t>
            </a:r>
            <a:r>
              <a:rPr lang="en-US" altLang="ko-KR" sz="1600" dirty="0">
                <a:solidFill>
                  <a:schemeClr val="tx1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혼자 사는 집에서 숨진 뒤 늦게 발견되는 고독사도 함께 증가하는 추세</a:t>
            </a:r>
            <a:endParaRPr lang="en-US" altLang="ko-KR" sz="1600" dirty="0">
              <a:solidFill>
                <a:schemeClr val="tx1"/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lang="en-US" altLang="ko-KR" sz="1200" dirty="0">
                <a:solidFill>
                  <a:schemeClr val="tx1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인 가구 </a:t>
            </a:r>
            <a:r>
              <a:rPr lang="en-US" altLang="ko-KR" sz="1200" dirty="0">
                <a:solidFill>
                  <a:schemeClr val="tx1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4</a:t>
            </a:r>
            <a:r>
              <a:rPr lang="ko-KR" altLang="en-US" sz="1200" dirty="0" err="1">
                <a:solidFill>
                  <a:schemeClr val="tx1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년새</a:t>
            </a:r>
            <a:r>
              <a:rPr lang="ko-KR" altLang="en-US" sz="1200" dirty="0">
                <a:solidFill>
                  <a:schemeClr val="tx1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+11.6%  →  </a:t>
            </a:r>
            <a:r>
              <a:rPr lang="ko-KR" altLang="en-US" sz="1200" dirty="0">
                <a:solidFill>
                  <a:schemeClr val="tx1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고독사 </a:t>
            </a:r>
            <a:r>
              <a:rPr lang="en-US" altLang="ko-KR" sz="1200" dirty="0">
                <a:solidFill>
                  <a:schemeClr val="tx1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6</a:t>
            </a:r>
            <a:r>
              <a:rPr lang="ko-KR" altLang="en-US" sz="1200" dirty="0" err="1">
                <a:solidFill>
                  <a:schemeClr val="tx1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년새</a:t>
            </a:r>
            <a:r>
              <a:rPr lang="ko-KR" altLang="en-US" sz="1200" dirty="0">
                <a:solidFill>
                  <a:schemeClr val="tx1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+52%  |  </a:t>
            </a:r>
            <a:r>
              <a:rPr lang="ko-KR" altLang="en-US" sz="1200" dirty="0">
                <a:solidFill>
                  <a:schemeClr val="tx1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전력 데이터로 그 집의 ‘</a:t>
            </a:r>
            <a:r>
              <a:rPr lang="ko-KR" altLang="en-US" sz="1200" dirty="0" err="1">
                <a:solidFill>
                  <a:schemeClr val="tx1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평소’를</a:t>
            </a:r>
            <a:r>
              <a:rPr lang="ko-KR" altLang="en-US" sz="1200" dirty="0">
                <a:solidFill>
                  <a:schemeClr val="tx1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학습해 이상을 조기 포착</a:t>
            </a:r>
          </a:p>
        </p:txBody>
      </p:sp>
    </p:spTree>
    <p:extLst>
      <p:ext uri="{BB962C8B-B14F-4D97-AF65-F5344CB8AC3E}">
        <p14:creationId xmlns:p14="http://schemas.microsoft.com/office/powerpoint/2010/main" val="777994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E844C-7F17-16D3-851F-A5D686EA9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81F6F4-A659-14B1-14BB-CFD63C62FFF6}"/>
              </a:ext>
            </a:extLst>
          </p:cNvPr>
          <p:cNvSpPr txBox="1"/>
          <p:nvPr/>
        </p:nvSpPr>
        <p:spPr>
          <a:xfrm>
            <a:off x="566928" y="273346"/>
            <a:ext cx="10424160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ko-KR" sz="2500" b="1" dirty="0">
                <a:solidFill>
                  <a:srgbClr val="333333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2. </a:t>
            </a:r>
            <a:r>
              <a:rPr lang="ko-KR" altLang="en-US" sz="2500" b="1" dirty="0">
                <a:solidFill>
                  <a:srgbClr val="333333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선행연구 및 기존 연구의 한계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4BEC2F-25A7-767F-3EB0-286B80B2C523}"/>
              </a:ext>
            </a:extLst>
          </p:cNvPr>
          <p:cNvSpPr/>
          <p:nvPr/>
        </p:nvSpPr>
        <p:spPr>
          <a:xfrm>
            <a:off x="566928" y="796590"/>
            <a:ext cx="11064240" cy="18288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슬라이드 번호 개체 틀 38">
            <a:extLst>
              <a:ext uri="{FF2B5EF4-FFF2-40B4-BE49-F238E27FC236}">
                <a16:creationId xmlns:a16="http://schemas.microsoft.com/office/drawing/2014/main" id="{EFF57864-9F5F-3044-1D22-77C1559C0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9189" y="6420145"/>
            <a:ext cx="2743200" cy="365125"/>
          </a:xfrm>
        </p:spPr>
        <p:txBody>
          <a:bodyPr/>
          <a:lstStyle/>
          <a:p>
            <a:fld id="{7F40F4AC-C263-BF4D-B85D-2209F4D7F591}" type="slidenum">
              <a:rPr kumimoji="1" lang="ko-KR" altLang="en-US" smtClean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4</a:t>
            </a:fld>
            <a:endParaRPr kumimoji="1" lang="ko-KR" altLang="en-US"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06C33-04A4-0705-0132-8CCF84982160}"/>
              </a:ext>
            </a:extLst>
          </p:cNvPr>
          <p:cNvSpPr txBox="1"/>
          <p:nvPr/>
        </p:nvSpPr>
        <p:spPr>
          <a:xfrm>
            <a:off x="6583680" y="292608"/>
            <a:ext cx="521208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2026 KETI AI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융합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응용기술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아이디어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경진대회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en-US" altLang="ko-KR"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차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중간발표회</a:t>
            </a:r>
            <a:endParaRPr sz="900" b="0" dirty="0">
              <a:solidFill>
                <a:srgbClr val="595959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3" name="Rounded Rectangle 37">
            <a:extLst>
              <a:ext uri="{FF2B5EF4-FFF2-40B4-BE49-F238E27FC236}">
                <a16:creationId xmlns:a16="http://schemas.microsoft.com/office/drawing/2014/main" id="{AC656A97-2578-E5DB-2344-64DFCCC2566B}"/>
              </a:ext>
            </a:extLst>
          </p:cNvPr>
          <p:cNvSpPr/>
          <p:nvPr/>
        </p:nvSpPr>
        <p:spPr>
          <a:xfrm>
            <a:off x="566928" y="4830062"/>
            <a:ext cx="11064240" cy="1735329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F06858-24F9-9D86-F1E0-69EDDD3FEAF4}"/>
              </a:ext>
            </a:extLst>
          </p:cNvPr>
          <p:cNvSpPr txBox="1"/>
          <p:nvPr/>
        </p:nvSpPr>
        <p:spPr>
          <a:xfrm>
            <a:off x="822960" y="5081876"/>
            <a:ext cx="2298827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 algn="l">
              <a:lnSpc>
                <a:spcPct val="100000"/>
              </a:lnSpc>
              <a:spcAft>
                <a:spcPts val="400"/>
              </a:spcAft>
              <a:buFont typeface="+mj-lt"/>
              <a:buAutoNum type="arabicPeriod"/>
            </a:pPr>
            <a:r>
              <a:rPr lang="ko-KR" altLang="en-US" sz="1400" b="1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이상 탐지 후               추가 방향성 제시 미비</a:t>
            </a:r>
            <a:endParaRPr lang="en-US" altLang="ko-KR" sz="1400" b="1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AD5D15-3FA7-4C2B-F2ED-B8682811DC7E}"/>
              </a:ext>
            </a:extLst>
          </p:cNvPr>
          <p:cNvSpPr txBox="1"/>
          <p:nvPr/>
        </p:nvSpPr>
        <p:spPr>
          <a:xfrm>
            <a:off x="822960" y="5548926"/>
            <a:ext cx="2414016" cy="3874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ko-KR" alt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위험 감지는 하지만 그 이상의        조치로 이어지지 않는 연구 및 사례</a:t>
            </a:r>
            <a:endParaRPr sz="1200" b="0" dirty="0">
              <a:solidFill>
                <a:schemeClr val="tx1">
                  <a:lumMod val="85000"/>
                  <a:lumOff val="15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3742BD-3DE3-66B8-94AC-89DD2876C458}"/>
              </a:ext>
            </a:extLst>
          </p:cNvPr>
          <p:cNvSpPr txBox="1"/>
          <p:nvPr/>
        </p:nvSpPr>
        <p:spPr>
          <a:xfrm>
            <a:off x="3493008" y="5081876"/>
            <a:ext cx="254203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 algn="l">
              <a:lnSpc>
                <a:spcPct val="100000"/>
              </a:lnSpc>
              <a:spcAft>
                <a:spcPts val="400"/>
              </a:spcAft>
              <a:buFont typeface="+mj-lt"/>
              <a:buAutoNum type="arabicPeriod" startAt="2"/>
            </a:pPr>
            <a:r>
              <a:rPr sz="1400" b="1" dirty="0" err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사업자</a:t>
            </a:r>
            <a:r>
              <a:rPr sz="1400" b="1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sz="1400" b="1" dirty="0" err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단위</a:t>
            </a:r>
            <a:r>
              <a:rPr lang="ko-KR" altLang="en-US" sz="1400" b="1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의 거래</a:t>
            </a:r>
            <a:endParaRPr sz="1400" b="1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4016A0-3C3B-9935-499D-A08AAECFEE68}"/>
              </a:ext>
            </a:extLst>
          </p:cNvPr>
          <p:cNvSpPr txBox="1"/>
          <p:nvPr/>
        </p:nvSpPr>
        <p:spPr>
          <a:xfrm>
            <a:off x="3493008" y="5548926"/>
            <a:ext cx="2298827" cy="3874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ko-KR" alt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개인 단위로 전력을 거래하는 해외 사례와 달리 국내 거래 환경의 미비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AF7246-9D2E-C349-C917-58AB186549A9}"/>
              </a:ext>
            </a:extLst>
          </p:cNvPr>
          <p:cNvSpPr txBox="1"/>
          <p:nvPr/>
        </p:nvSpPr>
        <p:spPr>
          <a:xfrm>
            <a:off x="6163056" y="5081876"/>
            <a:ext cx="254203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 algn="l">
              <a:lnSpc>
                <a:spcPct val="100000"/>
              </a:lnSpc>
              <a:spcAft>
                <a:spcPts val="400"/>
              </a:spcAft>
              <a:buFont typeface="+mj-lt"/>
              <a:buAutoNum type="arabicPeriod" startAt="3"/>
            </a:pPr>
            <a:r>
              <a:rPr sz="1400" b="1" dirty="0" err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중앙</a:t>
            </a:r>
            <a:r>
              <a:rPr lang="ko-KR" altLang="en-US" sz="1400" b="1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관리형 데이터 </a:t>
            </a:r>
            <a:r>
              <a:rPr sz="1400" b="1" dirty="0" err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수집</a:t>
            </a:r>
            <a:endParaRPr sz="1400" b="1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F808F6-B60D-59C8-3E35-2B0178272B1E}"/>
              </a:ext>
            </a:extLst>
          </p:cNvPr>
          <p:cNvSpPr txBox="1"/>
          <p:nvPr/>
        </p:nvSpPr>
        <p:spPr>
          <a:xfrm>
            <a:off x="6163056" y="5548926"/>
            <a:ext cx="2542032" cy="3874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전력</a:t>
            </a:r>
            <a:r>
              <a:rPr lang="ko-KR" alt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=</a:t>
            </a:r>
            <a:r>
              <a:rPr lang="ko-KR" alt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sz="12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생활</a:t>
            </a:r>
            <a:r>
              <a:rPr lang="ko-KR" alt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sz="12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패턴</a:t>
            </a:r>
            <a:r>
              <a:rPr lang="ko-KR" alt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이라는 특성이 있지만 클라우드화로 인한 특성 반영 미비</a:t>
            </a:r>
            <a:endParaRPr sz="1200" b="0" dirty="0">
              <a:solidFill>
                <a:schemeClr val="tx1">
                  <a:lumMod val="85000"/>
                  <a:lumOff val="15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5F31A5-0E12-A0B5-1FBA-A5154D270796}"/>
              </a:ext>
            </a:extLst>
          </p:cNvPr>
          <p:cNvSpPr txBox="1"/>
          <p:nvPr/>
        </p:nvSpPr>
        <p:spPr>
          <a:xfrm>
            <a:off x="8833104" y="5081876"/>
            <a:ext cx="254203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 algn="l">
              <a:lnSpc>
                <a:spcPct val="100000"/>
              </a:lnSpc>
              <a:spcAft>
                <a:spcPts val="400"/>
              </a:spcAft>
              <a:buFont typeface="+mj-lt"/>
              <a:buAutoNum type="arabicPeriod" startAt="4"/>
            </a:pPr>
            <a:r>
              <a:rPr sz="1400" b="1" dirty="0" err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기능</a:t>
            </a:r>
            <a:r>
              <a:rPr lang="ko-KR" altLang="en-US" sz="1400" b="1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의</a:t>
            </a:r>
            <a:r>
              <a:rPr sz="1400" b="1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sz="1400" b="1" dirty="0" err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파편화</a:t>
            </a:r>
            <a:endParaRPr sz="1400" b="1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EAEAF1-B407-B2EB-ED7E-F5AE20CE590F}"/>
              </a:ext>
            </a:extLst>
          </p:cNvPr>
          <p:cNvSpPr txBox="1"/>
          <p:nvPr/>
        </p:nvSpPr>
        <p:spPr>
          <a:xfrm>
            <a:off x="8833104" y="5548926"/>
            <a:ext cx="2542032" cy="3874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안부·요금·태양광</a:t>
            </a:r>
            <a:r>
              <a:rPr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ko-KR" alt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등의 데이터를 </a:t>
            </a:r>
            <a:br>
              <a:rPr lang="en-US" altLang="ko-KR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</a:b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개별적 관리로 인한 통합화 부족</a:t>
            </a:r>
            <a:endParaRPr sz="1200" b="0" dirty="0">
              <a:solidFill>
                <a:schemeClr val="tx1">
                  <a:lumMod val="85000"/>
                  <a:lumOff val="15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6935FF-A578-333E-50DB-5968C6686CB0}"/>
              </a:ext>
            </a:extLst>
          </p:cNvPr>
          <p:cNvSpPr txBox="1"/>
          <p:nvPr/>
        </p:nvSpPr>
        <p:spPr>
          <a:xfrm>
            <a:off x="838200" y="6173924"/>
            <a:ext cx="105156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lang="en-US" sz="1600" b="1" dirty="0">
                <a:solidFill>
                  <a:srgbClr val="C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“한 </a:t>
            </a:r>
            <a:r>
              <a:rPr lang="en-US" sz="1600" b="1" dirty="0" err="1">
                <a:solidFill>
                  <a:srgbClr val="C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가구의</a:t>
            </a:r>
            <a:r>
              <a:rPr lang="en-US" sz="1600" b="1" dirty="0">
                <a:solidFill>
                  <a:srgbClr val="C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ko-KR" altLang="en-US" sz="1600" b="1" dirty="0">
                <a:solidFill>
                  <a:srgbClr val="C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전력 데이터를</a:t>
            </a:r>
            <a:r>
              <a:rPr lang="en-US" sz="1600" b="1" dirty="0">
                <a:solidFill>
                  <a:srgbClr val="C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온디바이스로 학습해 이상 탐지와 전력 거래를 </a:t>
            </a:r>
            <a:r>
              <a:rPr lang="en-US" sz="1600" b="1" dirty="0" err="1">
                <a:solidFill>
                  <a:srgbClr val="C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하나의</a:t>
            </a:r>
            <a:r>
              <a:rPr lang="en-US" sz="1600" b="1" dirty="0">
                <a:solidFill>
                  <a:srgbClr val="C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ko-KR" altLang="en-US" sz="1600" b="1" dirty="0">
                <a:solidFill>
                  <a:srgbClr val="C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플랫폼으로</a:t>
            </a:r>
            <a:r>
              <a:rPr lang="en-US" sz="1600" b="1" dirty="0">
                <a:solidFill>
                  <a:srgbClr val="C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통합”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4A6A3C-AC9C-E837-A6DB-927070C73B53}"/>
              </a:ext>
            </a:extLst>
          </p:cNvPr>
          <p:cNvSpPr txBox="1"/>
          <p:nvPr/>
        </p:nvSpPr>
        <p:spPr>
          <a:xfrm>
            <a:off x="566928" y="1316736"/>
            <a:ext cx="11064240" cy="2871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lang="ko-KR" altLang="en-US" sz="14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연구 사례와 기업·공공 사례는 ‘예측·감지’와 ‘전력 거래’로 나뉘어 각각 발전했고, 두 연구를 통합하여 진행한 연구는 미비한 상태</a:t>
            </a: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46482EF1-962A-B80E-A19F-5A047152DB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9072815"/>
              </p:ext>
            </p:extLst>
          </p:nvPr>
        </p:nvGraphicFramePr>
        <p:xfrm>
          <a:off x="510657" y="2023293"/>
          <a:ext cx="5436468" cy="23917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654">
                  <a:extLst>
                    <a:ext uri="{9D8B030D-6E8A-4147-A177-3AD203B41FA5}">
                      <a16:colId xmlns:a16="http://schemas.microsoft.com/office/drawing/2014/main" val="838053268"/>
                    </a:ext>
                  </a:extLst>
                </a:gridCol>
                <a:gridCol w="2180492">
                  <a:extLst>
                    <a:ext uri="{9D8B030D-6E8A-4147-A177-3AD203B41FA5}">
                      <a16:colId xmlns:a16="http://schemas.microsoft.com/office/drawing/2014/main" val="2766163193"/>
                    </a:ext>
                  </a:extLst>
                </a:gridCol>
                <a:gridCol w="2247322">
                  <a:extLst>
                    <a:ext uri="{9D8B030D-6E8A-4147-A177-3AD203B41FA5}">
                      <a16:colId xmlns:a16="http://schemas.microsoft.com/office/drawing/2014/main" val="440122839"/>
                    </a:ext>
                  </a:extLst>
                </a:gridCol>
              </a:tblGrid>
              <a:tr h="446965">
                <a:tc gridSpan="2"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latin typeface="에스코어 드림 6 Bold" panose="020B0703030302020204" pitchFamily="34" charset="-127"/>
                          <a:ea typeface="에스코어 드림 6 Bold" panose="020B0703030302020204" pitchFamily="34" charset="-127"/>
                        </a:rPr>
                        <a:t>연구 사례</a:t>
                      </a:r>
                      <a:endParaRPr lang="en-US" altLang="ko-KR" sz="1600" dirty="0">
                        <a:latin typeface="에스코어 드림 6 Bold" panose="020B0703030302020204" pitchFamily="34" charset="-127"/>
                        <a:ea typeface="에스코어 드림 6 Bold" panose="020B0703030302020204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765326"/>
                  </a:ext>
                </a:extLst>
              </a:tr>
              <a:tr h="62452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시계열 예측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30000"/>
                        </a:lnSpc>
                      </a:pPr>
                      <a:r>
                        <a:rPr lang="en-US" altLang="ko-KR" sz="1100" dirty="0" err="1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Chronos·Chronos-Bolt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(2024)</a:t>
                      </a:r>
                    </a:p>
                    <a:p>
                      <a:pPr algn="l" latinLnBrk="1">
                        <a:lnSpc>
                          <a:spcPct val="130000"/>
                        </a:lnSpc>
                      </a:pPr>
                      <a:r>
                        <a:rPr lang="en-US" altLang="ko-KR" sz="1100" dirty="0" err="1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DeepAR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(2020)·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분위수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 회귀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30000"/>
                        </a:lnSpc>
                      </a:pPr>
                      <a:r>
                        <a:rPr lang="ko-KR" altLang="en-US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대상이 대개 집합단위</a:t>
                      </a:r>
                      <a:r>
                        <a:rPr lang="en-US" altLang="ko-KR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(</a:t>
                      </a:r>
                      <a:r>
                        <a:rPr lang="ko-KR" altLang="en-US" sz="11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피더</a:t>
                      </a:r>
                      <a:r>
                        <a:rPr lang="en-US" altLang="ko-KR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·</a:t>
                      </a:r>
                      <a:r>
                        <a:rPr lang="ko-KR" altLang="en-US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지역</a:t>
                      </a:r>
                      <a:r>
                        <a:rPr lang="en-US" altLang="ko-KR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)</a:t>
                      </a:r>
                    </a:p>
                    <a:p>
                      <a:pPr algn="l" latinLnBrk="1">
                        <a:lnSpc>
                          <a:spcPct val="130000"/>
                        </a:lnSpc>
                      </a:pPr>
                      <a:r>
                        <a:rPr lang="ko-KR" altLang="en-US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가구 단위 이력 짧아 검증 부족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409047"/>
                  </a:ext>
                </a:extLst>
              </a:tr>
              <a:tr h="62452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가전 분해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(NILM)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30000"/>
                        </a:lnSpc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Hart(1992)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이래 분해 계보</a:t>
                      </a:r>
                    </a:p>
                    <a:p>
                      <a:pPr algn="l" latinLnBrk="1">
                        <a:lnSpc>
                          <a:spcPct val="130000"/>
                        </a:lnSpc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딥러닝 분해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(Kelly 2015)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30000"/>
                        </a:lnSpc>
                      </a:pPr>
                      <a:r>
                        <a:rPr lang="ko-KR" altLang="en-US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‘</a:t>
                      </a:r>
                      <a:r>
                        <a:rPr lang="ko-KR" altLang="en-US" sz="11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분해’에서</a:t>
                      </a:r>
                      <a:r>
                        <a:rPr lang="ko-KR" altLang="en-US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 멈춤</a:t>
                      </a:r>
                    </a:p>
                    <a:p>
                      <a:pPr algn="l" latinLnBrk="1">
                        <a:lnSpc>
                          <a:spcPct val="130000"/>
                        </a:lnSpc>
                      </a:pPr>
                      <a:r>
                        <a:rPr lang="ko-KR" altLang="en-US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의사결정으로 안 이어짐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442804"/>
                  </a:ext>
                </a:extLst>
              </a:tr>
              <a:tr h="62452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전력 거래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30000"/>
                        </a:lnSpc>
                      </a:pPr>
                      <a:r>
                        <a:rPr lang="fr-FR" altLang="ko-KR" sz="110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P2P 전력거래 가능성(에경연)</a:t>
                      </a:r>
                    </a:p>
                    <a:p>
                      <a:pPr algn="l" latinLnBrk="1">
                        <a:lnSpc>
                          <a:spcPct val="130000"/>
                        </a:lnSpc>
                      </a:pPr>
                      <a:r>
                        <a:rPr lang="fr-FR" altLang="ko-KR" sz="110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제주 플러스DR 성과(전기학회)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30000"/>
                        </a:lnSpc>
                      </a:pPr>
                      <a:r>
                        <a:rPr lang="ko-KR" altLang="en-US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시장·사업자 단위 최적화</a:t>
                      </a:r>
                    </a:p>
                    <a:p>
                      <a:pPr algn="l" latinLnBrk="1">
                        <a:lnSpc>
                          <a:spcPct val="130000"/>
                        </a:lnSpc>
                      </a:pPr>
                      <a:r>
                        <a:rPr lang="ko-KR" altLang="en-US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가구 단위 실증은 초기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3682884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362E4043-A9FC-209E-F695-4AA767E301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3603888"/>
              </p:ext>
            </p:extLst>
          </p:nvPr>
        </p:nvGraphicFramePr>
        <p:xfrm>
          <a:off x="6244877" y="2018963"/>
          <a:ext cx="5436468" cy="23917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2440">
                  <a:extLst>
                    <a:ext uri="{9D8B030D-6E8A-4147-A177-3AD203B41FA5}">
                      <a16:colId xmlns:a16="http://schemas.microsoft.com/office/drawing/2014/main" val="838053268"/>
                    </a:ext>
                  </a:extLst>
                </a:gridCol>
                <a:gridCol w="2363415">
                  <a:extLst>
                    <a:ext uri="{9D8B030D-6E8A-4147-A177-3AD203B41FA5}">
                      <a16:colId xmlns:a16="http://schemas.microsoft.com/office/drawing/2014/main" val="2766163193"/>
                    </a:ext>
                  </a:extLst>
                </a:gridCol>
                <a:gridCol w="1850613">
                  <a:extLst>
                    <a:ext uri="{9D8B030D-6E8A-4147-A177-3AD203B41FA5}">
                      <a16:colId xmlns:a16="http://schemas.microsoft.com/office/drawing/2014/main" val="440122839"/>
                    </a:ext>
                  </a:extLst>
                </a:gridCol>
              </a:tblGrid>
              <a:tr h="446965">
                <a:tc gridSpan="2"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latin typeface="에스코어 드림 6 Bold" panose="020B0703030302020204" pitchFamily="34" charset="-127"/>
                          <a:ea typeface="에스코어 드림 6 Bold" panose="020B0703030302020204" pitchFamily="34" charset="-127"/>
                        </a:rPr>
                        <a:t>기업</a:t>
                      </a:r>
                      <a:r>
                        <a:rPr lang="en-US" altLang="ko-KR" sz="1600" dirty="0">
                          <a:latin typeface="에스코어 드림 6 Bold" panose="020B0703030302020204" pitchFamily="34" charset="-127"/>
                          <a:ea typeface="에스코어 드림 6 Bold" panose="020B0703030302020204" pitchFamily="34" charset="-127"/>
                        </a:rPr>
                        <a:t>·</a:t>
                      </a:r>
                      <a:r>
                        <a:rPr lang="ko-KR" altLang="en-US" sz="1600" dirty="0">
                          <a:latin typeface="에스코어 드림 6 Bold" panose="020B0703030302020204" pitchFamily="34" charset="-127"/>
                          <a:ea typeface="에스코어 드림 6 Bold" panose="020B0703030302020204" pitchFamily="34" charset="-127"/>
                        </a:rPr>
                        <a:t>공공 사례 </a:t>
                      </a:r>
                      <a:endParaRPr lang="en-US" altLang="ko-KR" sz="1600" dirty="0">
                        <a:latin typeface="에스코어 드림 6 Bold" panose="020B0703030302020204" pitchFamily="34" charset="-127"/>
                        <a:ea typeface="에스코어 드림 6 Bold" panose="020B0703030302020204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1B3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1B3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1B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765326"/>
                  </a:ext>
                </a:extLst>
              </a:tr>
              <a:tr h="624526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서울시 ‘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똑똑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’</a:t>
                      </a:r>
                    </a:p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AI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안부든든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30000"/>
                        </a:lnSpc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KEPCO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전력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+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통신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+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앱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AI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분석 →</a:t>
                      </a:r>
                    </a:p>
                    <a:p>
                      <a:pPr algn="l" latinLnBrk="1">
                        <a:lnSpc>
                          <a:spcPct val="130000"/>
                        </a:lnSpc>
                      </a:pP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이상예측→안부전화→출동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(3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자치구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30000"/>
                        </a:lnSpc>
                      </a:pPr>
                      <a:r>
                        <a:rPr lang="ko-KR" altLang="en-US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감지</a:t>
                      </a:r>
                      <a:r>
                        <a:rPr lang="en-US" altLang="ko-KR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·</a:t>
                      </a:r>
                      <a:r>
                        <a:rPr lang="ko-KR" altLang="en-US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출동 중심 </a:t>
                      </a:r>
                      <a:r>
                        <a:rPr lang="en-US" altLang="ko-KR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· </a:t>
                      </a:r>
                      <a:r>
                        <a:rPr lang="ko-KR" altLang="en-US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중앙수집</a:t>
                      </a:r>
                    </a:p>
                    <a:p>
                      <a:pPr algn="l" latinLnBrk="1">
                        <a:lnSpc>
                          <a:spcPct val="130000"/>
                        </a:lnSpc>
                      </a:pPr>
                      <a:r>
                        <a:rPr lang="ko-KR" altLang="en-US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‘무엇을 바꾸면’ </a:t>
                      </a:r>
                      <a:r>
                        <a:rPr lang="ko-KR" altLang="en-US" sz="11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시뮬</a:t>
                      </a:r>
                      <a:r>
                        <a:rPr lang="ko-KR" altLang="en-US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 없음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409047"/>
                  </a:ext>
                </a:extLst>
              </a:tr>
              <a:tr h="62452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한국전력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AMI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30000"/>
                        </a:lnSpc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2024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년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전고객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2,005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만 호 완료</a:t>
                      </a:r>
                    </a:p>
                    <a:p>
                      <a:pPr algn="l" latinLnBrk="1">
                        <a:lnSpc>
                          <a:spcPct val="130000"/>
                        </a:lnSpc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“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Beyond Metering,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새 가치”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30000"/>
                        </a:lnSpc>
                      </a:pPr>
                      <a:r>
                        <a:rPr lang="ko-KR" altLang="en-US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계량</a:t>
                      </a:r>
                      <a:r>
                        <a:rPr lang="en-US" altLang="ko-KR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·grid </a:t>
                      </a:r>
                      <a:r>
                        <a:rPr lang="ko-KR" altLang="en-US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예지에 집중</a:t>
                      </a:r>
                    </a:p>
                    <a:p>
                      <a:pPr algn="l" latinLnBrk="1">
                        <a:lnSpc>
                          <a:spcPct val="130000"/>
                        </a:lnSpc>
                      </a:pPr>
                      <a:r>
                        <a:rPr lang="ko-KR" altLang="en-US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가구단위 개입 </a:t>
                      </a:r>
                      <a:r>
                        <a:rPr lang="ko-KR" altLang="en-US" sz="11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시뮬</a:t>
                      </a:r>
                      <a:r>
                        <a:rPr lang="ko-KR" altLang="en-US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 공백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442804"/>
                  </a:ext>
                </a:extLst>
              </a:tr>
              <a:tr h="62452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분산특구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30000"/>
                        </a:lnSpc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전력 직거래 특구 7곳 지정</a:t>
                      </a:r>
                    </a:p>
                    <a:p>
                      <a:pPr algn="l" latinLnBrk="1">
                        <a:lnSpc>
                          <a:spcPct val="130000"/>
                        </a:lnSpc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아파트 태양광 상계거래 특례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30000"/>
                        </a:lnSpc>
                      </a:pPr>
                      <a:r>
                        <a:rPr lang="ko-KR" altLang="en-US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산업 수용가 중심</a:t>
                      </a:r>
                    </a:p>
                    <a:p>
                      <a:pPr algn="l" latinLnBrk="1">
                        <a:lnSpc>
                          <a:spcPct val="130000"/>
                        </a:lnSpc>
                      </a:pPr>
                      <a:r>
                        <a:rPr lang="ko-KR" altLang="en-US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가구 참여 수단 공백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3682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0984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6AD8F-2F28-7FB7-6F69-BE6771A59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8B7DAD-0319-407F-EF57-F65C6307BF58}"/>
              </a:ext>
            </a:extLst>
          </p:cNvPr>
          <p:cNvSpPr txBox="1"/>
          <p:nvPr/>
        </p:nvSpPr>
        <p:spPr>
          <a:xfrm>
            <a:off x="566928" y="273346"/>
            <a:ext cx="10424160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ko-KR" sz="2500" b="1" dirty="0">
                <a:solidFill>
                  <a:srgbClr val="333333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3</a:t>
            </a:r>
            <a:r>
              <a:rPr sz="2500" b="1" dirty="0">
                <a:solidFill>
                  <a:srgbClr val="333333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. </a:t>
            </a:r>
            <a:r>
              <a:rPr lang="ko-KR" altLang="en-US" sz="2500" b="1" dirty="0">
                <a:solidFill>
                  <a:srgbClr val="333333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본 연구의 개념 및 최종목표</a:t>
            </a:r>
            <a:endParaRPr sz="2500" b="1" dirty="0">
              <a:solidFill>
                <a:srgbClr val="333333"/>
              </a:solidFill>
              <a:latin typeface="S-Core Dream 6 Bold" panose="020B0503030302020204" pitchFamily="34" charset="-127"/>
              <a:ea typeface="S-Core Dream 6 Bold" panose="020B0503030302020204" pitchFamily="34" charset="-127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958C08-7E55-5332-DD26-77A7B7D21E5B}"/>
              </a:ext>
            </a:extLst>
          </p:cNvPr>
          <p:cNvSpPr/>
          <p:nvPr/>
        </p:nvSpPr>
        <p:spPr>
          <a:xfrm>
            <a:off x="566928" y="796590"/>
            <a:ext cx="11064240" cy="18288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슬라이드 번호 개체 틀 38">
            <a:extLst>
              <a:ext uri="{FF2B5EF4-FFF2-40B4-BE49-F238E27FC236}">
                <a16:creationId xmlns:a16="http://schemas.microsoft.com/office/drawing/2014/main" id="{78E47D07-372C-5137-13C9-6903219A8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9189" y="6420145"/>
            <a:ext cx="2743200" cy="365125"/>
          </a:xfrm>
        </p:spPr>
        <p:txBody>
          <a:bodyPr/>
          <a:lstStyle/>
          <a:p>
            <a:fld id="{7F40F4AC-C263-BF4D-B85D-2209F4D7F591}" type="slidenum">
              <a:rPr kumimoji="1" lang="ko-KR" altLang="en-US" smtClean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5</a:t>
            </a:fld>
            <a:endParaRPr kumimoji="1" lang="ko-KR" altLang="en-US"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ADB696-BBCC-65F7-12CF-BD9645AA8579}"/>
              </a:ext>
            </a:extLst>
          </p:cNvPr>
          <p:cNvSpPr txBox="1"/>
          <p:nvPr/>
        </p:nvSpPr>
        <p:spPr>
          <a:xfrm>
            <a:off x="6583680" y="292608"/>
            <a:ext cx="521208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2026 KETI AI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융합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응용기술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아이디어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경진대회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en-US" altLang="ko-KR"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차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중간발표회</a:t>
            </a:r>
            <a:endParaRPr sz="900" b="0" dirty="0">
              <a:solidFill>
                <a:srgbClr val="595959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F028AF2-8AF5-FBBB-4E3A-FBBF8B746F5B}"/>
              </a:ext>
            </a:extLst>
          </p:cNvPr>
          <p:cNvSpPr/>
          <p:nvPr/>
        </p:nvSpPr>
        <p:spPr>
          <a:xfrm>
            <a:off x="566928" y="1218271"/>
            <a:ext cx="11064240" cy="555665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b="1" dirty="0" err="1">
                <a:solidFill>
                  <a:srgbClr val="FFFFFF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라즈베리파이를</a:t>
            </a:r>
            <a:r>
              <a:rPr lang="ko-KR" altLang="en-US" b="1" dirty="0">
                <a:solidFill>
                  <a:srgbClr val="FFFFFF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통한 가구별 전력 거래 및 이상 탐지 체계 플랫폼 확장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336BC8A4-C593-2F48-B892-059CBF789F89}"/>
              </a:ext>
            </a:extLst>
          </p:cNvPr>
          <p:cNvSpPr/>
          <p:nvPr/>
        </p:nvSpPr>
        <p:spPr>
          <a:xfrm>
            <a:off x="566928" y="4956048"/>
            <a:ext cx="11064240" cy="1060704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5A0047E-4424-47C2-223F-25E748D80CA4}"/>
              </a:ext>
            </a:extLst>
          </p:cNvPr>
          <p:cNvSpPr txBox="1"/>
          <p:nvPr/>
        </p:nvSpPr>
        <p:spPr>
          <a:xfrm>
            <a:off x="822960" y="5047488"/>
            <a:ext cx="105156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dirty="0" err="1">
                <a:solidFill>
                  <a:srgbClr val="595959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세</a:t>
            </a:r>
            <a:r>
              <a:rPr sz="1250" dirty="0">
                <a:solidFill>
                  <a:srgbClr val="595959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</a:t>
            </a:r>
            <a:r>
              <a:rPr sz="1250" dirty="0" err="1">
                <a:solidFill>
                  <a:srgbClr val="595959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역할을</a:t>
            </a:r>
            <a:r>
              <a:rPr sz="1250" dirty="0">
                <a:solidFill>
                  <a:srgbClr val="595959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</a:t>
            </a:r>
            <a:r>
              <a:rPr sz="1250" dirty="0" err="1">
                <a:solidFill>
                  <a:srgbClr val="595959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하나로</a:t>
            </a:r>
            <a:r>
              <a:rPr sz="1250" dirty="0">
                <a:solidFill>
                  <a:srgbClr val="595959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</a:t>
            </a:r>
            <a:r>
              <a:rPr sz="1250" dirty="0" err="1">
                <a:solidFill>
                  <a:srgbClr val="595959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묶는</a:t>
            </a:r>
            <a:r>
              <a:rPr sz="1250" dirty="0">
                <a:solidFill>
                  <a:srgbClr val="595959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</a:t>
            </a:r>
            <a:r>
              <a:rPr sz="1250" dirty="0" err="1">
                <a:solidFill>
                  <a:srgbClr val="595959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이유</a:t>
            </a:r>
            <a:r>
              <a:rPr sz="1250" dirty="0">
                <a:solidFill>
                  <a:srgbClr val="595959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: </a:t>
            </a:r>
            <a:r>
              <a:rPr sz="1250" dirty="0" err="1">
                <a:solidFill>
                  <a:srgbClr val="595959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온디바이스</a:t>
            </a:r>
            <a:r>
              <a:rPr sz="1250" dirty="0">
                <a:solidFill>
                  <a:srgbClr val="595959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· </a:t>
            </a:r>
            <a:r>
              <a:rPr sz="1250" dirty="0" err="1">
                <a:solidFill>
                  <a:srgbClr val="595959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무클라우드</a:t>
            </a:r>
            <a:endParaRPr sz="1250" dirty="0">
              <a:solidFill>
                <a:srgbClr val="595959"/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E7E7E57-DB13-53DD-9602-BBB9591F5360}"/>
              </a:ext>
            </a:extLst>
          </p:cNvPr>
          <p:cNvSpPr txBox="1"/>
          <p:nvPr/>
        </p:nvSpPr>
        <p:spPr>
          <a:xfrm>
            <a:off x="868680" y="5340096"/>
            <a:ext cx="3401568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>
                <a:solidFill>
                  <a:srgbClr val="333333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· 같은 데이터, 같은 기반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E59C7DD-2735-E6F8-11E7-5477955D50AD}"/>
              </a:ext>
            </a:extLst>
          </p:cNvPr>
          <p:cNvSpPr txBox="1"/>
          <p:nvPr/>
        </p:nvSpPr>
        <p:spPr>
          <a:xfrm>
            <a:off x="978407" y="5577840"/>
            <a:ext cx="3310128" cy="2888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dirty="0" err="1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거래·절감·안전</a:t>
            </a:r>
            <a:r>
              <a:rPr sz="88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</a:t>
            </a:r>
            <a:r>
              <a:rPr sz="880" dirty="0" err="1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모두</a:t>
            </a:r>
            <a:r>
              <a:rPr sz="88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‘</a:t>
            </a:r>
            <a:r>
              <a:rPr sz="880" dirty="0" err="1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그</a:t>
            </a:r>
            <a:r>
              <a:rPr sz="88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</a:t>
            </a:r>
            <a:r>
              <a:rPr sz="880" dirty="0" err="1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가구의</a:t>
            </a:r>
            <a:r>
              <a:rPr sz="88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</a:t>
            </a:r>
            <a:r>
              <a:rPr sz="880" dirty="0" err="1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평소</a:t>
            </a:r>
            <a:r>
              <a:rPr sz="88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</a:t>
            </a:r>
            <a:r>
              <a:rPr sz="880" dirty="0" err="1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패턴</a:t>
            </a:r>
            <a:r>
              <a:rPr sz="88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’ </a:t>
            </a:r>
            <a:r>
              <a:rPr sz="880" dirty="0" err="1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위에서</a:t>
            </a:r>
            <a:r>
              <a:rPr sz="88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</a:t>
            </a:r>
            <a:r>
              <a:rPr sz="880" dirty="0" err="1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판단</a:t>
            </a:r>
            <a:endParaRPr sz="880" dirty="0">
              <a:solidFill>
                <a:srgbClr val="707070"/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dirty="0" err="1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예측</a:t>
            </a:r>
            <a:r>
              <a:rPr sz="88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</a:t>
            </a:r>
            <a:r>
              <a:rPr sz="880" dirty="0" err="1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기반</a:t>
            </a:r>
            <a:r>
              <a:rPr sz="88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</a:t>
            </a:r>
            <a:r>
              <a:rPr sz="880" dirty="0" err="1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하나로</a:t>
            </a:r>
            <a:r>
              <a:rPr sz="88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</a:t>
            </a:r>
            <a:r>
              <a:rPr sz="880" dirty="0" err="1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세</a:t>
            </a:r>
            <a:r>
              <a:rPr sz="88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</a:t>
            </a:r>
            <a:r>
              <a:rPr sz="880" dirty="0" err="1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기능을</a:t>
            </a:r>
            <a:r>
              <a:rPr sz="88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</a:t>
            </a:r>
            <a:r>
              <a:rPr sz="880" dirty="0" err="1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동시에</a:t>
            </a:r>
            <a:r>
              <a:rPr sz="88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</a:t>
            </a:r>
            <a:r>
              <a:rPr sz="880" dirty="0" err="1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얻</a:t>
            </a:r>
            <a:r>
              <a:rPr lang="ko-KR" altLang="en-US" sz="88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음</a:t>
            </a:r>
            <a:endParaRPr sz="880" dirty="0">
              <a:solidFill>
                <a:srgbClr val="707070"/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9E470D-6BDF-448C-4519-B19EBABB6CC8}"/>
              </a:ext>
            </a:extLst>
          </p:cNvPr>
          <p:cNvSpPr txBox="1"/>
          <p:nvPr/>
        </p:nvSpPr>
        <p:spPr>
          <a:xfrm>
            <a:off x="4453128" y="5340096"/>
            <a:ext cx="3401568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en-US" altLang="ko-KR" sz="1050" dirty="0">
                <a:solidFill>
                  <a:srgbClr val="333333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????????</a:t>
            </a:r>
            <a:endParaRPr sz="1050" dirty="0">
              <a:solidFill>
                <a:srgbClr val="333333"/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08ADBC5-35F8-8B2A-BE96-DE88CAA8B35F}"/>
              </a:ext>
            </a:extLst>
          </p:cNvPr>
          <p:cNvSpPr txBox="1"/>
          <p:nvPr/>
        </p:nvSpPr>
        <p:spPr>
          <a:xfrm>
            <a:off x="4562856" y="5577840"/>
            <a:ext cx="3310128" cy="139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altLang="ko-KR" sz="880" dirty="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??????????????</a:t>
            </a:r>
            <a:endParaRPr sz="880" dirty="0">
              <a:solidFill>
                <a:srgbClr val="707070"/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5DBB349-D395-3EDD-3AA8-5479DE43A2BC}"/>
              </a:ext>
            </a:extLst>
          </p:cNvPr>
          <p:cNvSpPr txBox="1"/>
          <p:nvPr/>
        </p:nvSpPr>
        <p:spPr>
          <a:xfrm>
            <a:off x="8037575" y="5340096"/>
            <a:ext cx="3401568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>
                <a:solidFill>
                  <a:srgbClr val="333333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· 취약계층 접근성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4CDB406-4B07-B659-AC2F-955D20062AEA}"/>
              </a:ext>
            </a:extLst>
          </p:cNvPr>
          <p:cNvSpPr txBox="1"/>
          <p:nvPr/>
        </p:nvSpPr>
        <p:spPr>
          <a:xfrm>
            <a:off x="8147303" y="5577840"/>
            <a:ext cx="3310128" cy="2888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저가 라즈베리파이 한 대로 구현.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>
                <a:solidFill>
                  <a:srgbClr val="70707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요금 절감·안전을 동시에 제공해 사회적 가치를 높인다</a:t>
            </a: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9BA91CC5-9130-8510-0644-4E0F02346033}"/>
              </a:ext>
            </a:extLst>
          </p:cNvPr>
          <p:cNvGrpSpPr/>
          <p:nvPr/>
        </p:nvGrpSpPr>
        <p:grpSpPr>
          <a:xfrm>
            <a:off x="566928" y="2087646"/>
            <a:ext cx="10972798" cy="2502641"/>
            <a:chOff x="566928" y="2087646"/>
            <a:chExt cx="10972798" cy="2502641"/>
          </a:xfrm>
        </p:grpSpPr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7D3B5EB5-7B92-64D1-6C92-2DDC3881EF23}"/>
                </a:ext>
              </a:extLst>
            </p:cNvPr>
            <p:cNvGrpSpPr/>
            <p:nvPr/>
          </p:nvGrpSpPr>
          <p:grpSpPr>
            <a:xfrm>
              <a:off x="566928" y="2103119"/>
              <a:ext cx="3529584" cy="2487168"/>
              <a:chOff x="566928" y="2103119"/>
              <a:chExt cx="3529584" cy="2487168"/>
            </a:xfrm>
          </p:grpSpPr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F131B208-38B1-17BC-AEEA-7C44544A2E53}"/>
                  </a:ext>
                </a:extLst>
              </p:cNvPr>
              <p:cNvSpPr/>
              <p:nvPr/>
            </p:nvSpPr>
            <p:spPr>
              <a:xfrm>
                <a:off x="566928" y="2103119"/>
                <a:ext cx="3529584" cy="2487168"/>
              </a:xfrm>
              <a:prstGeom prst="roundRect">
                <a:avLst>
                  <a:gd name="adj" fmla="val 6000"/>
                </a:avLst>
              </a:prstGeom>
              <a:solidFill>
                <a:srgbClr val="FFFFFF"/>
              </a:solidFill>
              <a:ln w="1905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00DF7476-76F8-9D46-76A6-7D810DAD71A5}"/>
                  </a:ext>
                </a:extLst>
              </p:cNvPr>
              <p:cNvGrpSpPr/>
              <p:nvPr/>
            </p:nvGrpSpPr>
            <p:grpSpPr>
              <a:xfrm>
                <a:off x="1665615" y="2271631"/>
                <a:ext cx="1332210" cy="509900"/>
                <a:chOff x="566928" y="2176272"/>
                <a:chExt cx="3529584" cy="468258"/>
              </a:xfrm>
            </p:grpSpPr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AA8BEB2E-5086-7F23-B77B-3D5D889C1A8F}"/>
                    </a:ext>
                  </a:extLst>
                </p:cNvPr>
                <p:cNvSpPr txBox="1"/>
                <p:nvPr/>
              </p:nvSpPr>
              <p:spPr>
                <a:xfrm>
                  <a:off x="566928" y="2176272"/>
                  <a:ext cx="3529584" cy="15545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spcAft>
                      <a:spcPts val="400"/>
                    </a:spcAft>
                  </a:pPr>
                  <a:r>
                    <a:rPr sz="1100" dirty="0">
                      <a:latin typeface="S-Core Dream 5 Medium" panose="020B0503030302020204" pitchFamily="34" charset="-127"/>
                      <a:ea typeface="S-Core Dream 5 Medium" panose="020B0503030302020204" pitchFamily="34" charset="-127"/>
                    </a:rPr>
                    <a:t>TRADE</a:t>
                  </a: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2311BA8-D290-5FA8-CD0B-9B8136B39790}"/>
                    </a:ext>
                  </a:extLst>
                </p:cNvPr>
                <p:cNvSpPr txBox="1"/>
                <p:nvPr/>
              </p:nvSpPr>
              <p:spPr>
                <a:xfrm>
                  <a:off x="566928" y="2404285"/>
                  <a:ext cx="3529584" cy="24024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spcAft>
                      <a:spcPts val="400"/>
                    </a:spcAft>
                  </a:pPr>
                  <a:r>
                    <a:rPr sz="1700" dirty="0" err="1">
                      <a:latin typeface="S-Core Dream 5 Medium" panose="020B0503030302020204" pitchFamily="34" charset="-127"/>
                      <a:ea typeface="S-Core Dream 5 Medium" panose="020B0503030302020204" pitchFamily="34" charset="-127"/>
                    </a:rPr>
                    <a:t>거래</a:t>
                  </a:r>
                  <a:endParaRPr sz="1700" dirty="0">
                    <a:latin typeface="S-Core Dream 5 Medium" panose="020B0503030302020204" pitchFamily="34" charset="-127"/>
                    <a:ea typeface="S-Core Dream 5 Medium" panose="020B0503030302020204" pitchFamily="34" charset="-127"/>
                  </a:endParaRPr>
                </a:p>
              </p:txBody>
            </p: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B96A334-8B8D-5FE6-0AFE-2073B1777D45}"/>
                  </a:ext>
                </a:extLst>
              </p:cNvPr>
              <p:cNvSpPr txBox="1"/>
              <p:nvPr/>
            </p:nvSpPr>
            <p:spPr>
              <a:xfrm>
                <a:off x="749808" y="3017520"/>
                <a:ext cx="3163824" cy="19236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Aft>
                    <a:spcPts val="400"/>
                  </a:spcAft>
                </a:pPr>
                <a:r>
                  <a:rPr lang="ko-KR" altLang="en-US" sz="1250" b="1" dirty="0">
                    <a:solidFill>
                      <a:srgbClr val="595959"/>
                    </a:solidFill>
                    <a:latin typeface="S-Core Dream 5 Medium" panose="020B0503030302020204" pitchFamily="34" charset="-127"/>
                    <a:ea typeface="S-Core Dream 5 Medium" panose="020B0503030302020204" pitchFamily="34" charset="-127"/>
                  </a:rPr>
                  <a:t>전기료 변동에 따른 전력 거래</a:t>
                </a:r>
                <a:endParaRPr sz="1250" b="1" dirty="0">
                  <a:solidFill>
                    <a:srgbClr val="595959"/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7BFF227-298A-D567-1A47-DC2239FAFDF3}"/>
                  </a:ext>
                </a:extLst>
              </p:cNvPr>
              <p:cNvSpPr txBox="1"/>
              <p:nvPr/>
            </p:nvSpPr>
            <p:spPr>
              <a:xfrm>
                <a:off x="749808" y="3401568"/>
                <a:ext cx="3163824" cy="391646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16000"/>
                  </a:lnSpc>
                  <a:spcAft>
                    <a:spcPts val="100"/>
                  </a:spcAft>
                </a:pPr>
                <a:r>
                  <a:rPr sz="1100" dirty="0" err="1">
                    <a:solidFill>
                      <a:srgbClr val="707070"/>
                    </a:solidFill>
                    <a:latin typeface="S-Core Dream 5 Medium" panose="020B0503030302020204" pitchFamily="34" charset="-127"/>
                    <a:ea typeface="S-Core Dream 5 Medium" panose="020B0503030302020204" pitchFamily="34" charset="-127"/>
                  </a:rPr>
                  <a:t>요금과</a:t>
                </a:r>
                <a:r>
                  <a:rPr sz="1100" dirty="0">
                    <a:solidFill>
                      <a:srgbClr val="707070"/>
                    </a:solidFill>
                    <a:latin typeface="S-Core Dream 5 Medium" panose="020B0503030302020204" pitchFamily="34" charset="-127"/>
                    <a:ea typeface="S-Core Dream 5 Medium" panose="020B0503030302020204" pitchFamily="34" charset="-127"/>
                  </a:rPr>
                  <a:t> </a:t>
                </a:r>
                <a:r>
                  <a:rPr sz="1100" dirty="0" err="1">
                    <a:solidFill>
                      <a:srgbClr val="707070"/>
                    </a:solidFill>
                    <a:latin typeface="S-Core Dream 5 Medium" panose="020B0503030302020204" pitchFamily="34" charset="-127"/>
                    <a:ea typeface="S-Core Dream 5 Medium" panose="020B0503030302020204" pitchFamily="34" charset="-127"/>
                  </a:rPr>
                  <a:t>태양광</a:t>
                </a:r>
                <a:r>
                  <a:rPr sz="1100" dirty="0">
                    <a:solidFill>
                      <a:srgbClr val="707070"/>
                    </a:solidFill>
                    <a:latin typeface="S-Core Dream 5 Medium" panose="020B0503030302020204" pitchFamily="34" charset="-127"/>
                    <a:ea typeface="S-Core Dream 5 Medium" panose="020B0503030302020204" pitchFamily="34" charset="-127"/>
                  </a:rPr>
                  <a:t> </a:t>
                </a:r>
                <a:r>
                  <a:rPr sz="1100" dirty="0" err="1">
                    <a:solidFill>
                      <a:srgbClr val="707070"/>
                    </a:solidFill>
                    <a:latin typeface="S-Core Dream 5 Medium" panose="020B0503030302020204" pitchFamily="34" charset="-127"/>
                    <a:ea typeface="S-Core Dream 5 Medium" panose="020B0503030302020204" pitchFamily="34" charset="-127"/>
                  </a:rPr>
                  <a:t>발전량을</a:t>
                </a:r>
                <a:r>
                  <a:rPr sz="1100" dirty="0">
                    <a:solidFill>
                      <a:srgbClr val="707070"/>
                    </a:solidFill>
                    <a:latin typeface="S-Core Dream 5 Medium" panose="020B0503030302020204" pitchFamily="34" charset="-127"/>
                    <a:ea typeface="S-Core Dream 5 Medium" panose="020B0503030302020204" pitchFamily="34" charset="-127"/>
                  </a:rPr>
                  <a:t> </a:t>
                </a:r>
                <a:r>
                  <a:rPr sz="1100" dirty="0" err="1">
                    <a:solidFill>
                      <a:srgbClr val="707070"/>
                    </a:solidFill>
                    <a:latin typeface="S-Core Dream 5 Medium" panose="020B0503030302020204" pitchFamily="34" charset="-127"/>
                    <a:ea typeface="S-Core Dream 5 Medium" panose="020B0503030302020204" pitchFamily="34" charset="-127"/>
                  </a:rPr>
                  <a:t>예측해</a:t>
                </a:r>
                <a:endParaRPr sz="1100" dirty="0">
                  <a:solidFill>
                    <a:srgbClr val="707070"/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endParaRPr>
              </a:p>
              <a:p>
                <a:pPr algn="ctr">
                  <a:lnSpc>
                    <a:spcPct val="116000"/>
                  </a:lnSpc>
                  <a:spcAft>
                    <a:spcPts val="100"/>
                  </a:spcAft>
                </a:pPr>
                <a:r>
                  <a:rPr sz="1100" dirty="0" err="1">
                    <a:solidFill>
                      <a:srgbClr val="707070"/>
                    </a:solidFill>
                    <a:latin typeface="S-Core Dream 5 Medium" panose="020B0503030302020204" pitchFamily="34" charset="-127"/>
                    <a:ea typeface="S-Core Dream 5 Medium" panose="020B0503030302020204" pitchFamily="34" charset="-127"/>
                  </a:rPr>
                  <a:t>충전·판매</a:t>
                </a:r>
                <a:r>
                  <a:rPr sz="1100" dirty="0">
                    <a:solidFill>
                      <a:srgbClr val="707070"/>
                    </a:solidFill>
                    <a:latin typeface="S-Core Dream 5 Medium" panose="020B0503030302020204" pitchFamily="34" charset="-127"/>
                    <a:ea typeface="S-Core Dream 5 Medium" panose="020B0503030302020204" pitchFamily="34" charset="-127"/>
                  </a:rPr>
                  <a:t> </a:t>
                </a:r>
                <a:r>
                  <a:rPr sz="1100" dirty="0" err="1">
                    <a:solidFill>
                      <a:srgbClr val="707070"/>
                    </a:solidFill>
                    <a:latin typeface="S-Core Dream 5 Medium" panose="020B0503030302020204" pitchFamily="34" charset="-127"/>
                    <a:ea typeface="S-Core Dream 5 Medium" panose="020B0503030302020204" pitchFamily="34" charset="-127"/>
                  </a:rPr>
                  <a:t>시점을</a:t>
                </a:r>
                <a:r>
                  <a:rPr sz="1100" dirty="0">
                    <a:solidFill>
                      <a:srgbClr val="707070"/>
                    </a:solidFill>
                    <a:latin typeface="S-Core Dream 5 Medium" panose="020B0503030302020204" pitchFamily="34" charset="-127"/>
                    <a:ea typeface="S-Core Dream 5 Medium" panose="020B0503030302020204" pitchFamily="34" charset="-127"/>
                  </a:rPr>
                  <a:t> </a:t>
                </a:r>
                <a:r>
                  <a:rPr sz="1100" dirty="0" err="1">
                    <a:solidFill>
                      <a:srgbClr val="707070"/>
                    </a:solidFill>
                    <a:latin typeface="S-Core Dream 5 Medium" panose="020B0503030302020204" pitchFamily="34" charset="-127"/>
                    <a:ea typeface="S-Core Dream 5 Medium" panose="020B0503030302020204" pitchFamily="34" charset="-127"/>
                  </a:rPr>
                  <a:t>자동</a:t>
                </a:r>
                <a:r>
                  <a:rPr lang="ko-KR" altLang="en-US" sz="1100" dirty="0">
                    <a:solidFill>
                      <a:srgbClr val="707070"/>
                    </a:solidFill>
                    <a:latin typeface="S-Core Dream 5 Medium" panose="020B0503030302020204" pitchFamily="34" charset="-127"/>
                    <a:ea typeface="S-Core Dream 5 Medium" panose="020B0503030302020204" pitchFamily="34" charset="-127"/>
                  </a:rPr>
                  <a:t> 선정</a:t>
                </a:r>
                <a:endParaRPr sz="1100" dirty="0">
                  <a:solidFill>
                    <a:srgbClr val="707070"/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endParaRPr>
              </a:p>
            </p:txBody>
          </p:sp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F08DDACF-BFF7-E161-59E9-FE4CF03DBE87}"/>
                  </a:ext>
                </a:extLst>
              </p:cNvPr>
              <p:cNvSpPr/>
              <p:nvPr/>
            </p:nvSpPr>
            <p:spPr>
              <a:xfrm>
                <a:off x="749808" y="4114800"/>
                <a:ext cx="3163824" cy="365760"/>
              </a:xfrm>
              <a:prstGeom prst="roundRect">
                <a:avLst>
                  <a:gd name="adj" fmla="val 6000"/>
                </a:avLst>
              </a:prstGeom>
              <a:solidFill>
                <a:srgbClr val="F3F3F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r>
                  <a:rPr lang="ko-KR" altLang="en-US" sz="1200" dirty="0">
                    <a:solidFill>
                      <a:schemeClr val="tx1"/>
                    </a:solidFill>
                    <a:latin typeface="S-Core Dream 5 Medium" panose="020B0503030302020204" pitchFamily="34" charset="-127"/>
                    <a:ea typeface="S-Core Dream 5 Medium" panose="020B0503030302020204" pitchFamily="34" charset="-127"/>
                  </a:rPr>
                  <a:t>예</a:t>
                </a:r>
                <a:r>
                  <a:rPr lang="en-US" altLang="ko-KR" sz="1200" dirty="0">
                    <a:solidFill>
                      <a:schemeClr val="tx1"/>
                    </a:solidFill>
                    <a:latin typeface="S-Core Dream 5 Medium" panose="020B0503030302020204" pitchFamily="34" charset="-127"/>
                    <a:ea typeface="S-Core Dream 5 Medium" panose="020B0503030302020204" pitchFamily="34" charset="-127"/>
                  </a:rPr>
                  <a:t>: </a:t>
                </a:r>
                <a:r>
                  <a:rPr lang="ko-KR" altLang="en-US" sz="1200" dirty="0">
                    <a:solidFill>
                      <a:schemeClr val="tx1"/>
                    </a:solidFill>
                    <a:latin typeface="S-Core Dream 5 Medium" panose="020B0503030302020204" pitchFamily="34" charset="-127"/>
                    <a:ea typeface="S-Core Dream 5 Medium" panose="020B0503030302020204" pitchFamily="34" charset="-127"/>
                  </a:rPr>
                  <a:t>야간 충전</a:t>
                </a:r>
                <a:r>
                  <a:rPr lang="en-US" altLang="ko-KR" sz="1200" dirty="0">
                    <a:solidFill>
                      <a:schemeClr val="tx1"/>
                    </a:solidFill>
                    <a:latin typeface="S-Core Dream 5 Medium" panose="020B0503030302020204" pitchFamily="34" charset="-127"/>
                    <a:ea typeface="S-Core Dream 5 Medium" panose="020B0503030302020204" pitchFamily="34" charset="-127"/>
                  </a:rPr>
                  <a:t>·</a:t>
                </a:r>
                <a:r>
                  <a:rPr lang="ko-KR" altLang="en-US" sz="1200" dirty="0">
                    <a:solidFill>
                      <a:schemeClr val="tx1"/>
                    </a:solidFill>
                    <a:latin typeface="S-Core Dream 5 Medium" panose="020B0503030302020204" pitchFamily="34" charset="-127"/>
                    <a:ea typeface="S-Core Dream 5 Medium" panose="020B0503030302020204" pitchFamily="34" charset="-127"/>
                  </a:rPr>
                  <a:t>피크 방전</a:t>
                </a:r>
              </a:p>
            </p:txBody>
          </p:sp>
          <p:cxnSp>
            <p:nvCxnSpPr>
              <p:cNvPr id="44" name="직선 연결선[R] 43">
                <a:extLst>
                  <a:ext uri="{FF2B5EF4-FFF2-40B4-BE49-F238E27FC236}">
                    <a16:creationId xmlns:a16="http://schemas.microsoft.com/office/drawing/2014/main" id="{FDCE27F4-AC5C-4996-B818-371ACDC0FFDB}"/>
                  </a:ext>
                </a:extLst>
              </p:cNvPr>
              <p:cNvCxnSpPr/>
              <p:nvPr/>
            </p:nvCxnSpPr>
            <p:spPr>
              <a:xfrm>
                <a:off x="978407" y="2875136"/>
                <a:ext cx="266512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8D98258A-37F2-D701-2D6B-50B35014878F}"/>
                </a:ext>
              </a:extLst>
            </p:cNvPr>
            <p:cNvGrpSpPr/>
            <p:nvPr/>
          </p:nvGrpSpPr>
          <p:grpSpPr>
            <a:xfrm>
              <a:off x="4288535" y="2103119"/>
              <a:ext cx="3529584" cy="2487168"/>
              <a:chOff x="566928" y="2103119"/>
              <a:chExt cx="3529584" cy="2487168"/>
            </a:xfrm>
          </p:grpSpPr>
          <p:sp>
            <p:nvSpPr>
              <p:cNvPr id="47" name="Rounded Rectangle 8">
                <a:extLst>
                  <a:ext uri="{FF2B5EF4-FFF2-40B4-BE49-F238E27FC236}">
                    <a16:creationId xmlns:a16="http://schemas.microsoft.com/office/drawing/2014/main" id="{0564DCB6-6F8B-C126-CA9F-30CF1B303C1D}"/>
                  </a:ext>
                </a:extLst>
              </p:cNvPr>
              <p:cNvSpPr/>
              <p:nvPr/>
            </p:nvSpPr>
            <p:spPr>
              <a:xfrm>
                <a:off x="566928" y="2103119"/>
                <a:ext cx="3529584" cy="2487168"/>
              </a:xfrm>
              <a:prstGeom prst="roundRect">
                <a:avLst>
                  <a:gd name="adj" fmla="val 6000"/>
                </a:avLst>
              </a:prstGeom>
              <a:solidFill>
                <a:srgbClr val="FFFFFF"/>
              </a:solidFill>
              <a:ln w="1905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grpSp>
            <p:nvGrpSpPr>
              <p:cNvPr id="48" name="그룹 47">
                <a:extLst>
                  <a:ext uri="{FF2B5EF4-FFF2-40B4-BE49-F238E27FC236}">
                    <a16:creationId xmlns:a16="http://schemas.microsoft.com/office/drawing/2014/main" id="{917EB45E-38F5-FFFC-C66B-830F70B712F4}"/>
                  </a:ext>
                </a:extLst>
              </p:cNvPr>
              <p:cNvGrpSpPr/>
              <p:nvPr/>
            </p:nvGrpSpPr>
            <p:grpSpPr>
              <a:xfrm>
                <a:off x="1665615" y="2271631"/>
                <a:ext cx="1332210" cy="509900"/>
                <a:chOff x="566928" y="2176272"/>
                <a:chExt cx="3529584" cy="468258"/>
              </a:xfrm>
            </p:grpSpPr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3E3C7DE7-F275-5CEB-BD57-34D084A3F5BA}"/>
                    </a:ext>
                  </a:extLst>
                </p:cNvPr>
                <p:cNvSpPr txBox="1"/>
                <p:nvPr/>
              </p:nvSpPr>
              <p:spPr>
                <a:xfrm>
                  <a:off x="566928" y="2176272"/>
                  <a:ext cx="3529584" cy="15545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spcAft>
                      <a:spcPts val="400"/>
                    </a:spcAft>
                  </a:pPr>
                  <a:r>
                    <a:rPr lang="en" altLang="ko-KR" sz="1100" dirty="0">
                      <a:latin typeface="S-Core Dream 5 Medium" panose="020B0503030302020204" pitchFamily="34" charset="-127"/>
                      <a:ea typeface="S-Core Dream 5 Medium" panose="020B0503030302020204" pitchFamily="34" charset="-127"/>
                    </a:rPr>
                    <a:t>SAVE</a:t>
                  </a:r>
                </a:p>
              </p:txBody>
            </p:sp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82610859-F8F8-0FA8-5F61-989ADAE8D6C2}"/>
                    </a:ext>
                  </a:extLst>
                </p:cNvPr>
                <p:cNvSpPr txBox="1"/>
                <p:nvPr/>
              </p:nvSpPr>
              <p:spPr>
                <a:xfrm>
                  <a:off x="566928" y="2404285"/>
                  <a:ext cx="3529584" cy="24024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spcAft>
                      <a:spcPts val="400"/>
                    </a:spcAft>
                  </a:pPr>
                  <a:r>
                    <a:rPr lang="ko-KR" altLang="en-US" sz="1700" dirty="0">
                      <a:latin typeface="S-Core Dream 5 Medium" panose="020B0503030302020204" pitchFamily="34" charset="-127"/>
                      <a:ea typeface="S-Core Dream 5 Medium" panose="020B0503030302020204" pitchFamily="34" charset="-127"/>
                    </a:rPr>
                    <a:t>절감</a:t>
                  </a:r>
                  <a:endParaRPr sz="1700" dirty="0">
                    <a:latin typeface="S-Core Dream 5 Medium" panose="020B0503030302020204" pitchFamily="34" charset="-127"/>
                    <a:ea typeface="S-Core Dream 5 Medium" panose="020B0503030302020204" pitchFamily="34" charset="-127"/>
                  </a:endParaRPr>
                </a:p>
              </p:txBody>
            </p:sp>
          </p:grp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76DA775-9832-126A-6D42-9E1AA8DEEEF8}"/>
                  </a:ext>
                </a:extLst>
              </p:cNvPr>
              <p:cNvSpPr txBox="1"/>
              <p:nvPr/>
            </p:nvSpPr>
            <p:spPr>
              <a:xfrm>
                <a:off x="749808" y="3017520"/>
                <a:ext cx="3163824" cy="19236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Aft>
                    <a:spcPts val="400"/>
                  </a:spcAft>
                </a:pPr>
                <a:r>
                  <a:rPr lang="ko-KR" altLang="en-US" sz="1250" b="1" dirty="0">
                    <a:solidFill>
                      <a:srgbClr val="595959"/>
                    </a:solidFill>
                    <a:latin typeface="S-Core Dream 5 Medium" panose="020B0503030302020204" pitchFamily="34" charset="-127"/>
                    <a:ea typeface="S-Core Dream 5 Medium" panose="020B0503030302020204" pitchFamily="34" charset="-127"/>
                  </a:rPr>
                  <a:t>누진 및 기준 사용량 초과 시 알람</a:t>
                </a:r>
                <a:endParaRPr sz="1250" b="1" dirty="0">
                  <a:solidFill>
                    <a:srgbClr val="595959"/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E11941D-C411-B7C7-8D7A-A880C6088427}"/>
                  </a:ext>
                </a:extLst>
              </p:cNvPr>
              <p:cNvSpPr txBox="1"/>
              <p:nvPr/>
            </p:nvSpPr>
            <p:spPr>
              <a:xfrm>
                <a:off x="749808" y="3401568"/>
                <a:ext cx="3163824" cy="391646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16000"/>
                  </a:lnSpc>
                  <a:spcAft>
                    <a:spcPts val="100"/>
                  </a:spcAft>
                </a:pPr>
                <a:r>
                  <a:rPr lang="ko-KR" altLang="en-US" sz="1100" dirty="0">
                    <a:solidFill>
                      <a:srgbClr val="707070"/>
                    </a:solidFill>
                    <a:latin typeface="S-Core Dream 5 Medium" panose="020B0503030302020204" pitchFamily="34" charset="-127"/>
                    <a:ea typeface="S-Core Dream 5 Medium" panose="020B0503030302020204" pitchFamily="34" charset="-127"/>
                  </a:rPr>
                  <a:t>이번 달 사용량을 미리 예측해</a:t>
                </a:r>
              </a:p>
              <a:p>
                <a:pPr algn="ctr">
                  <a:lnSpc>
                    <a:spcPct val="116000"/>
                  </a:lnSpc>
                  <a:spcAft>
                    <a:spcPts val="100"/>
                  </a:spcAft>
                </a:pPr>
                <a:r>
                  <a:rPr lang="ko-KR" altLang="en-US" sz="1100" dirty="0">
                    <a:solidFill>
                      <a:srgbClr val="707070"/>
                    </a:solidFill>
                    <a:latin typeface="S-Core Dream 5 Medium" panose="020B0503030302020204" pitchFamily="34" charset="-127"/>
                    <a:ea typeface="S-Core Dream 5 Medium" panose="020B0503030302020204" pitchFamily="34" charset="-127"/>
                  </a:rPr>
                  <a:t>누진 구간 초과를 사전 경고</a:t>
                </a:r>
                <a:endParaRPr sz="1100" dirty="0">
                  <a:solidFill>
                    <a:srgbClr val="707070"/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endParaRPr>
              </a:p>
            </p:txBody>
          </p:sp>
          <p:sp>
            <p:nvSpPr>
              <p:cNvPr id="51" name="Rounded Rectangle 14">
                <a:extLst>
                  <a:ext uri="{FF2B5EF4-FFF2-40B4-BE49-F238E27FC236}">
                    <a16:creationId xmlns:a16="http://schemas.microsoft.com/office/drawing/2014/main" id="{5DB00DA8-4ECC-BFAF-C00F-E922050F1A4B}"/>
                  </a:ext>
                </a:extLst>
              </p:cNvPr>
              <p:cNvSpPr/>
              <p:nvPr/>
            </p:nvSpPr>
            <p:spPr>
              <a:xfrm>
                <a:off x="749808" y="4114800"/>
                <a:ext cx="3163824" cy="365760"/>
              </a:xfrm>
              <a:prstGeom prst="roundRect">
                <a:avLst>
                  <a:gd name="adj" fmla="val 6000"/>
                </a:avLst>
              </a:prstGeom>
              <a:solidFill>
                <a:srgbClr val="F3F3F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r>
                  <a:rPr lang="ko-KR" altLang="en-US" sz="1200" dirty="0">
                    <a:solidFill>
                      <a:schemeClr val="tx1"/>
                    </a:solidFill>
                    <a:latin typeface="S-Core Dream 5 Medium" panose="020B0503030302020204" pitchFamily="34" charset="-127"/>
                    <a:ea typeface="S-Core Dream 5 Medium" panose="020B0503030302020204" pitchFamily="34" charset="-127"/>
                  </a:rPr>
                  <a:t>예</a:t>
                </a:r>
                <a:r>
                  <a:rPr lang="en-US" altLang="ko-KR" sz="1200" dirty="0">
                    <a:solidFill>
                      <a:schemeClr val="tx1"/>
                    </a:solidFill>
                    <a:latin typeface="S-Core Dream 5 Medium" panose="020B0503030302020204" pitchFamily="34" charset="-127"/>
                    <a:ea typeface="S-Core Dream 5 Medium" panose="020B0503030302020204" pitchFamily="34" charset="-127"/>
                  </a:rPr>
                  <a:t>: 3</a:t>
                </a:r>
                <a:r>
                  <a:rPr lang="ko-KR" altLang="en-US" sz="1200" dirty="0">
                    <a:solidFill>
                      <a:schemeClr val="tx1"/>
                    </a:solidFill>
                    <a:latin typeface="S-Core Dream 5 Medium" panose="020B0503030302020204" pitchFamily="34" charset="-127"/>
                    <a:ea typeface="S-Core Dream 5 Medium" panose="020B0503030302020204" pitchFamily="34" charset="-127"/>
                  </a:rPr>
                  <a:t>구간 초과 예상 알림</a:t>
                </a:r>
              </a:p>
            </p:txBody>
          </p:sp>
          <p:cxnSp>
            <p:nvCxnSpPr>
              <p:cNvPr id="53" name="직선 연결선[R] 52">
                <a:extLst>
                  <a:ext uri="{FF2B5EF4-FFF2-40B4-BE49-F238E27FC236}">
                    <a16:creationId xmlns:a16="http://schemas.microsoft.com/office/drawing/2014/main" id="{48BD175C-B78E-6115-9BED-F8C3A9608B6B}"/>
                  </a:ext>
                </a:extLst>
              </p:cNvPr>
              <p:cNvCxnSpPr/>
              <p:nvPr/>
            </p:nvCxnSpPr>
            <p:spPr>
              <a:xfrm>
                <a:off x="978407" y="2875136"/>
                <a:ext cx="266512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091A49F5-3660-61DE-B097-61FC677D2681}"/>
                </a:ext>
              </a:extLst>
            </p:cNvPr>
            <p:cNvGrpSpPr/>
            <p:nvPr/>
          </p:nvGrpSpPr>
          <p:grpSpPr>
            <a:xfrm>
              <a:off x="8010142" y="2087646"/>
              <a:ext cx="3529584" cy="2487168"/>
              <a:chOff x="566928" y="2103119"/>
              <a:chExt cx="3529584" cy="2487168"/>
            </a:xfrm>
          </p:grpSpPr>
          <p:sp>
            <p:nvSpPr>
              <p:cNvPr id="57" name="Rounded Rectangle 8">
                <a:extLst>
                  <a:ext uri="{FF2B5EF4-FFF2-40B4-BE49-F238E27FC236}">
                    <a16:creationId xmlns:a16="http://schemas.microsoft.com/office/drawing/2014/main" id="{1C646A48-5BA0-CACA-7F26-1F54943CFE07}"/>
                  </a:ext>
                </a:extLst>
              </p:cNvPr>
              <p:cNvSpPr/>
              <p:nvPr/>
            </p:nvSpPr>
            <p:spPr>
              <a:xfrm>
                <a:off x="566928" y="2103119"/>
                <a:ext cx="3529584" cy="2487168"/>
              </a:xfrm>
              <a:prstGeom prst="roundRect">
                <a:avLst>
                  <a:gd name="adj" fmla="val 6000"/>
                </a:avLst>
              </a:prstGeom>
              <a:solidFill>
                <a:srgbClr val="FFFFFF"/>
              </a:solidFill>
              <a:ln w="1905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grpSp>
            <p:nvGrpSpPr>
              <p:cNvPr id="58" name="그룹 57">
                <a:extLst>
                  <a:ext uri="{FF2B5EF4-FFF2-40B4-BE49-F238E27FC236}">
                    <a16:creationId xmlns:a16="http://schemas.microsoft.com/office/drawing/2014/main" id="{7F9777E5-2DC8-3AAA-C6CB-9F7E52D41F0E}"/>
                  </a:ext>
                </a:extLst>
              </p:cNvPr>
              <p:cNvGrpSpPr/>
              <p:nvPr/>
            </p:nvGrpSpPr>
            <p:grpSpPr>
              <a:xfrm>
                <a:off x="1665615" y="2271631"/>
                <a:ext cx="1332210" cy="509900"/>
                <a:chOff x="566928" y="2176272"/>
                <a:chExt cx="3529584" cy="468258"/>
              </a:xfrm>
            </p:grpSpPr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42D94C9A-888E-35AC-6D4D-D77F9E88099C}"/>
                    </a:ext>
                  </a:extLst>
                </p:cNvPr>
                <p:cNvSpPr txBox="1"/>
                <p:nvPr/>
              </p:nvSpPr>
              <p:spPr>
                <a:xfrm>
                  <a:off x="566928" y="2176272"/>
                  <a:ext cx="3529584" cy="15545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spcAft>
                      <a:spcPts val="400"/>
                    </a:spcAft>
                  </a:pPr>
                  <a:r>
                    <a:rPr lang="en" sz="1100" dirty="0">
                      <a:latin typeface="S-Core Dream 5 Medium" panose="020B0503030302020204" pitchFamily="34" charset="-127"/>
                      <a:ea typeface="S-Core Dream 5 Medium" panose="020B0503030302020204" pitchFamily="34" charset="-127"/>
                    </a:rPr>
                    <a:t>PROTECT</a:t>
                  </a:r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BA98B89E-62D9-AA53-EA95-C139FB1BA5F7}"/>
                    </a:ext>
                  </a:extLst>
                </p:cNvPr>
                <p:cNvSpPr txBox="1"/>
                <p:nvPr/>
              </p:nvSpPr>
              <p:spPr>
                <a:xfrm>
                  <a:off x="566928" y="2404285"/>
                  <a:ext cx="3529584" cy="24024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spcAft>
                      <a:spcPts val="400"/>
                    </a:spcAft>
                  </a:pPr>
                  <a:r>
                    <a:rPr lang="ko-KR" altLang="en-US" sz="1700" dirty="0">
                      <a:latin typeface="S-Core Dream 5 Medium" panose="020B0503030302020204" pitchFamily="34" charset="-127"/>
                      <a:ea typeface="S-Core Dream 5 Medium" panose="020B0503030302020204" pitchFamily="34" charset="-127"/>
                    </a:rPr>
                    <a:t>안전</a:t>
                  </a:r>
                  <a:endParaRPr sz="1700" dirty="0">
                    <a:latin typeface="S-Core Dream 5 Medium" panose="020B0503030302020204" pitchFamily="34" charset="-127"/>
                    <a:ea typeface="S-Core Dream 5 Medium" panose="020B0503030302020204" pitchFamily="34" charset="-127"/>
                  </a:endParaRPr>
                </a:p>
              </p:txBody>
            </p:sp>
          </p:grp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768C8B1-6E00-5D93-6F86-F480E6C63282}"/>
                  </a:ext>
                </a:extLst>
              </p:cNvPr>
              <p:cNvSpPr txBox="1"/>
              <p:nvPr/>
            </p:nvSpPr>
            <p:spPr>
              <a:xfrm>
                <a:off x="749808" y="3017520"/>
                <a:ext cx="3163824" cy="19236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Aft>
                    <a:spcPts val="400"/>
                  </a:spcAft>
                </a:pPr>
                <a:r>
                  <a:rPr lang="ko-KR" altLang="en-US" sz="1250" b="1" dirty="0">
                    <a:solidFill>
                      <a:srgbClr val="595959"/>
                    </a:solidFill>
                    <a:latin typeface="S-Core Dream 5 Medium" panose="020B0503030302020204" pitchFamily="34" charset="-127"/>
                    <a:ea typeface="S-Core Dream 5 Medium" panose="020B0503030302020204" pitchFamily="34" charset="-127"/>
                  </a:rPr>
                  <a:t>이상 신호 탐지</a:t>
                </a:r>
                <a:endParaRPr sz="1250" b="1" dirty="0">
                  <a:solidFill>
                    <a:srgbClr val="595959"/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endParaRP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219E957C-705A-409C-C586-6F16DC1FBFC1}"/>
                  </a:ext>
                </a:extLst>
              </p:cNvPr>
              <p:cNvSpPr txBox="1"/>
              <p:nvPr/>
            </p:nvSpPr>
            <p:spPr>
              <a:xfrm>
                <a:off x="749808" y="3401568"/>
                <a:ext cx="3163824" cy="391646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16000"/>
                  </a:lnSpc>
                  <a:spcAft>
                    <a:spcPts val="100"/>
                  </a:spcAft>
                </a:pPr>
                <a:r>
                  <a:rPr lang="ko-KR" altLang="en-US" sz="1100" dirty="0">
                    <a:solidFill>
                      <a:srgbClr val="707070"/>
                    </a:solidFill>
                    <a:latin typeface="S-Core Dream 5 Medium" panose="020B0503030302020204" pitchFamily="34" charset="-127"/>
                    <a:ea typeface="S-Core Dream 5 Medium" panose="020B0503030302020204" pitchFamily="34" charset="-127"/>
                  </a:rPr>
                  <a:t>평소 패턴을 학습해 이상을 감지</a:t>
                </a:r>
              </a:p>
              <a:p>
                <a:pPr algn="ctr">
                  <a:lnSpc>
                    <a:spcPct val="116000"/>
                  </a:lnSpc>
                  <a:spcAft>
                    <a:spcPts val="100"/>
                  </a:spcAft>
                </a:pPr>
                <a:r>
                  <a:rPr lang="ko-KR" altLang="en-US" sz="1100" dirty="0">
                    <a:solidFill>
                      <a:srgbClr val="707070"/>
                    </a:solidFill>
                    <a:latin typeface="S-Core Dream 5 Medium" panose="020B0503030302020204" pitchFamily="34" charset="-127"/>
                    <a:ea typeface="S-Core Dream 5 Medium" panose="020B0503030302020204" pitchFamily="34" charset="-127"/>
                  </a:rPr>
                  <a:t>출장</a:t>
                </a:r>
                <a:r>
                  <a:rPr lang="en-US" altLang="ko-KR" sz="1100" dirty="0">
                    <a:solidFill>
                      <a:srgbClr val="707070"/>
                    </a:solidFill>
                    <a:latin typeface="S-Core Dream 5 Medium" panose="020B0503030302020204" pitchFamily="34" charset="-127"/>
                    <a:ea typeface="S-Core Dream 5 Medium" panose="020B0503030302020204" pitchFamily="34" charset="-127"/>
                  </a:rPr>
                  <a:t>·</a:t>
                </a:r>
                <a:r>
                  <a:rPr lang="ko-KR" altLang="en-US" sz="1100" dirty="0">
                    <a:solidFill>
                      <a:srgbClr val="707070"/>
                    </a:solidFill>
                    <a:latin typeface="S-Core Dream 5 Medium" panose="020B0503030302020204" pitchFamily="34" charset="-127"/>
                    <a:ea typeface="S-Core Dream 5 Medium" panose="020B0503030302020204" pitchFamily="34" charset="-127"/>
                  </a:rPr>
                  <a:t>여행 등 예외는 사후 확인</a:t>
                </a:r>
              </a:p>
            </p:txBody>
          </p:sp>
          <p:sp>
            <p:nvSpPr>
              <p:cNvPr id="61" name="Rounded Rectangle 14">
                <a:extLst>
                  <a:ext uri="{FF2B5EF4-FFF2-40B4-BE49-F238E27FC236}">
                    <a16:creationId xmlns:a16="http://schemas.microsoft.com/office/drawing/2014/main" id="{37AB8F80-04B2-1CB3-8FC9-99968F77EB54}"/>
                  </a:ext>
                </a:extLst>
              </p:cNvPr>
              <p:cNvSpPr/>
              <p:nvPr/>
            </p:nvSpPr>
            <p:spPr>
              <a:xfrm>
                <a:off x="749808" y="4114800"/>
                <a:ext cx="3163824" cy="365760"/>
              </a:xfrm>
              <a:prstGeom prst="roundRect">
                <a:avLst>
                  <a:gd name="adj" fmla="val 6000"/>
                </a:avLst>
              </a:prstGeom>
              <a:solidFill>
                <a:srgbClr val="F3F3F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r>
                  <a:rPr lang="ko-KR" altLang="en-US" sz="1200" dirty="0">
                    <a:solidFill>
                      <a:schemeClr val="tx1"/>
                    </a:solidFill>
                    <a:latin typeface="S-Core Dream 5 Medium" panose="020B0503030302020204" pitchFamily="34" charset="-127"/>
                    <a:ea typeface="S-Core Dream 5 Medium" panose="020B0503030302020204" pitchFamily="34" charset="-127"/>
                  </a:rPr>
                  <a:t>예</a:t>
                </a:r>
                <a:r>
                  <a:rPr lang="en-US" altLang="ko-KR" sz="1200" dirty="0">
                    <a:solidFill>
                      <a:schemeClr val="tx1"/>
                    </a:solidFill>
                    <a:latin typeface="S-Core Dream 5 Medium" panose="020B0503030302020204" pitchFamily="34" charset="-127"/>
                    <a:ea typeface="S-Core Dream 5 Medium" panose="020B0503030302020204" pitchFamily="34" charset="-127"/>
                  </a:rPr>
                  <a:t>: </a:t>
                </a:r>
                <a:r>
                  <a:rPr lang="ko-KR" altLang="en-US" sz="1200" dirty="0">
                    <a:solidFill>
                      <a:schemeClr val="tx1"/>
                    </a:solidFill>
                    <a:latin typeface="S-Core Dream 5 Medium" panose="020B0503030302020204" pitchFamily="34" charset="-127"/>
                    <a:ea typeface="S-Core Dream 5 Medium" panose="020B0503030302020204" pitchFamily="34" charset="-127"/>
                  </a:rPr>
                  <a:t>활동정지 조기 감지</a:t>
                </a:r>
              </a:p>
            </p:txBody>
          </p:sp>
          <p:cxnSp>
            <p:nvCxnSpPr>
              <p:cNvPr id="63" name="직선 연결선[R] 62">
                <a:extLst>
                  <a:ext uri="{FF2B5EF4-FFF2-40B4-BE49-F238E27FC236}">
                    <a16:creationId xmlns:a16="http://schemas.microsoft.com/office/drawing/2014/main" id="{8346EB2C-5472-0ACB-7779-27F99C8B2F81}"/>
                  </a:ext>
                </a:extLst>
              </p:cNvPr>
              <p:cNvCxnSpPr/>
              <p:nvPr/>
            </p:nvCxnSpPr>
            <p:spPr>
              <a:xfrm>
                <a:off x="978407" y="2875136"/>
                <a:ext cx="266512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720976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A7A46-5BB8-9ECC-0E04-205645B5F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99C7E8-8EBE-AAED-CC87-0E480D1426D9}"/>
              </a:ext>
            </a:extLst>
          </p:cNvPr>
          <p:cNvSpPr txBox="1"/>
          <p:nvPr/>
        </p:nvSpPr>
        <p:spPr>
          <a:xfrm>
            <a:off x="566928" y="273346"/>
            <a:ext cx="10424160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ko-KR" sz="2500" b="1" dirty="0">
                <a:solidFill>
                  <a:srgbClr val="333333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4. </a:t>
            </a:r>
            <a:r>
              <a:rPr lang="ko-KR" altLang="en-US" sz="2500" b="1" dirty="0">
                <a:solidFill>
                  <a:srgbClr val="333333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방법론 및 결과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B67077-CA9B-85FC-E0E1-4BC6A0154F93}"/>
              </a:ext>
            </a:extLst>
          </p:cNvPr>
          <p:cNvSpPr/>
          <p:nvPr/>
        </p:nvSpPr>
        <p:spPr>
          <a:xfrm>
            <a:off x="566928" y="796590"/>
            <a:ext cx="11064240" cy="18288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슬라이드 번호 개체 틀 38">
            <a:extLst>
              <a:ext uri="{FF2B5EF4-FFF2-40B4-BE49-F238E27FC236}">
                <a16:creationId xmlns:a16="http://schemas.microsoft.com/office/drawing/2014/main" id="{0FB795AA-C9FB-84E7-6C53-806AF8E56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9189" y="6420145"/>
            <a:ext cx="2743200" cy="365125"/>
          </a:xfrm>
        </p:spPr>
        <p:txBody>
          <a:bodyPr/>
          <a:lstStyle/>
          <a:p>
            <a:fld id="{7F40F4AC-C263-BF4D-B85D-2209F4D7F591}" type="slidenum">
              <a:rPr kumimoji="1" lang="ko-KR" altLang="en-US" smtClean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6</a:t>
            </a:fld>
            <a:endParaRPr kumimoji="1" lang="ko-KR" altLang="en-US"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27A6F2-B6FE-66E3-E3C1-B6E5FFB80E26}"/>
              </a:ext>
            </a:extLst>
          </p:cNvPr>
          <p:cNvSpPr txBox="1"/>
          <p:nvPr/>
        </p:nvSpPr>
        <p:spPr>
          <a:xfrm>
            <a:off x="6583680" y="292608"/>
            <a:ext cx="521208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2026 KETI AI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융합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응용기술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아이디어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경진대회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en-US" altLang="ko-KR"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차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중간발표회</a:t>
            </a:r>
            <a:endParaRPr sz="900" b="0" dirty="0">
              <a:solidFill>
                <a:srgbClr val="595959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000" name="T1001"/>
          <p:cNvSpPr txBox="1"/>
          <p:nvPr/>
        </p:nvSpPr>
        <p:spPr>
          <a:xfrm>
            <a:off x="571500" y="939800"/>
            <a:ext cx="110617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333333"/>
                </a:solidFill>
                <a:latin typeface="맑은 고딕"/>
              </a:rPr>
              <a:t>거래·절감은 확률 예측(Chronos-Bolt-Tiny), 안전은 정상 패턴 학습(오토인코더) — 둘 다 라벨 없이 가구 단위로 돌아간다</a:t>
            </a:r>
          </a:p>
        </p:txBody>
      </p:sp>
      <p:sp>
        <p:nvSpPr>
          <p:cNvPr id="1001" name="R1002"/>
          <p:cNvSpPr/>
          <p:nvPr/>
        </p:nvSpPr>
        <p:spPr>
          <a:xfrm>
            <a:off x="571500" y="1545682"/>
            <a:ext cx="50800" cy="2286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002" name="T1003"/>
          <p:cNvSpPr txBox="1"/>
          <p:nvPr/>
        </p:nvSpPr>
        <p:spPr>
          <a:xfrm>
            <a:off x="736600" y="1532982"/>
            <a:ext cx="4064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50" b="1" dirty="0">
                <a:solidFill>
                  <a:srgbClr val="9B1B30"/>
                </a:solidFill>
                <a:latin typeface="맑은 고딕"/>
              </a:rPr>
              <a:t>거래 · 절감  →  전력 예측</a:t>
            </a:r>
          </a:p>
        </p:txBody>
      </p:sp>
      <p:sp>
        <p:nvSpPr>
          <p:cNvPr id="1003" name="T1004"/>
          <p:cNvSpPr txBox="1"/>
          <p:nvPr/>
        </p:nvSpPr>
        <p:spPr>
          <a:xfrm>
            <a:off x="736600" y="1774282"/>
            <a:ext cx="73660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333333"/>
                </a:solidFill>
                <a:latin typeface="맑은 고딕"/>
              </a:rPr>
              <a:t>Chronos-Bolt-Tiny</a:t>
            </a:r>
            <a:r>
              <a:rPr lang="ko-KR" altLang="en-US" sz="1200" b="0" dirty="0">
                <a:solidFill>
                  <a:srgbClr val="767676"/>
                </a:solidFill>
                <a:latin typeface="맑은 고딕"/>
              </a:rPr>
              <a:t>   사전학습 시계열 · 확률(분위수) 예측</a:t>
            </a:r>
          </a:p>
        </p:txBody>
      </p:sp>
      <p:sp>
        <p:nvSpPr>
          <p:cNvPr id="1004" name="R1005"/>
          <p:cNvSpPr/>
          <p:nvPr/>
        </p:nvSpPr>
        <p:spPr>
          <a:xfrm>
            <a:off x="4699000" y="2231482"/>
            <a:ext cx="9525" cy="1168400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005" name="R1006"/>
          <p:cNvSpPr/>
          <p:nvPr/>
        </p:nvSpPr>
        <p:spPr>
          <a:xfrm>
            <a:off x="8483600" y="2231482"/>
            <a:ext cx="9525" cy="1168400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006" name="T1007"/>
          <p:cNvSpPr txBox="1"/>
          <p:nvPr/>
        </p:nvSpPr>
        <p:spPr>
          <a:xfrm>
            <a:off x="736600" y="2282282"/>
            <a:ext cx="37846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050" b="1" dirty="0">
                <a:solidFill>
                  <a:srgbClr val="767676"/>
                </a:solidFill>
                <a:latin typeface="맑은 고딕"/>
              </a:rPr>
              <a:t>왜 이 모델인가</a:t>
            </a:r>
          </a:p>
        </p:txBody>
      </p:sp>
      <p:sp>
        <p:nvSpPr>
          <p:cNvPr id="1007" name="T1008"/>
          <p:cNvSpPr txBox="1"/>
          <p:nvPr/>
        </p:nvSpPr>
        <p:spPr>
          <a:xfrm>
            <a:off x="4876800" y="2282282"/>
            <a:ext cx="3454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050" b="1" dirty="0">
                <a:solidFill>
                  <a:srgbClr val="767676"/>
                </a:solidFill>
                <a:latin typeface="맑은 고딕"/>
              </a:rPr>
              <a:t>어떻게 검증했나</a:t>
            </a:r>
          </a:p>
        </p:txBody>
      </p:sp>
      <p:sp>
        <p:nvSpPr>
          <p:cNvPr id="1008" name="T1009"/>
          <p:cNvSpPr txBox="1"/>
          <p:nvPr/>
        </p:nvSpPr>
        <p:spPr>
          <a:xfrm>
            <a:off x="8661400" y="2282282"/>
            <a:ext cx="29718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050" b="1" dirty="0">
                <a:solidFill>
                  <a:srgbClr val="767676"/>
                </a:solidFill>
                <a:latin typeface="맑은 고딕"/>
              </a:rPr>
              <a:t>결과</a:t>
            </a:r>
          </a:p>
        </p:txBody>
      </p:sp>
      <p:sp>
        <p:nvSpPr>
          <p:cNvPr id="1009" name="T1010"/>
          <p:cNvSpPr txBox="1"/>
          <p:nvPr/>
        </p:nvSpPr>
        <p:spPr>
          <a:xfrm>
            <a:off x="736600" y="2510882"/>
            <a:ext cx="3784600" cy="863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  <a:buNone/>
            </a:pPr>
            <a:r>
              <a:rPr lang="ko-KR" altLang="en-US" sz="1200" b="0" dirty="0">
                <a:solidFill>
                  <a:srgbClr val="333333"/>
                </a:solidFill>
                <a:latin typeface="맑은 고딕"/>
              </a:rPr>
              <a:t>· 데이터가 며칠뿐인 새 가구도 학습 없이 즉시 예측</a:t>
            </a:r>
          </a:p>
          <a:p>
            <a:pPr algn="l">
              <a:lnSpc>
                <a:spcPct val="125000"/>
              </a:lnSpc>
              <a:spcAft>
                <a:spcPts val="500"/>
              </a:spcAft>
              <a:buNone/>
            </a:pPr>
            <a:r>
              <a:rPr lang="ko-KR" altLang="en-US" sz="1200" b="0" dirty="0">
                <a:solidFill>
                  <a:srgbClr val="333333"/>
                </a:solidFill>
                <a:latin typeface="맑은 고딕"/>
              </a:rPr>
              <a:t>· 점 예측이 아닌 분포 → ‘초과 확률’을 말할 수 있다</a:t>
            </a:r>
          </a:p>
        </p:txBody>
      </p:sp>
      <p:sp>
        <p:nvSpPr>
          <p:cNvPr id="1010" name="T1011"/>
          <p:cNvSpPr txBox="1"/>
          <p:nvPr/>
        </p:nvSpPr>
        <p:spPr>
          <a:xfrm>
            <a:off x="4876800" y="2510882"/>
            <a:ext cx="3454400" cy="863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  <a:buNone/>
            </a:pPr>
            <a:r>
              <a:rPr lang="ko-KR" altLang="en-US" sz="1200" b="0" dirty="0">
                <a:solidFill>
                  <a:srgbClr val="333333"/>
                </a:solidFill>
                <a:latin typeface="맑은 고딕"/>
              </a:rPr>
              <a:t>· 89가구 실측 벤치마크에서 4종 비교</a:t>
            </a:r>
          </a:p>
          <a:p>
            <a:pPr algn="l">
              <a:lnSpc>
                <a:spcPct val="125000"/>
              </a:lnSpc>
              <a:spcAft>
                <a:spcPts val="500"/>
              </a:spcAft>
              <a:buNone/>
            </a:pPr>
            <a:r>
              <a:rPr lang="ko-KR" altLang="en-US" sz="1200" b="0" dirty="0">
                <a:solidFill>
                  <a:srgbClr val="333333"/>
                </a:solidFill>
                <a:latin typeface="맑은 고딕"/>
              </a:rPr>
              <a:t>  (WattCast · GBM · NGBoost 등)</a:t>
            </a:r>
          </a:p>
          <a:p>
            <a:pPr algn="l">
              <a:lnSpc>
                <a:spcPct val="125000"/>
              </a:lnSpc>
              <a:spcAft>
                <a:spcPts val="500"/>
              </a:spcAft>
              <a:buNone/>
            </a:pPr>
            <a:r>
              <a:rPr lang="ko-KR" altLang="en-US" sz="1200" b="0" dirty="0">
                <a:solidFill>
                  <a:srgbClr val="333333"/>
                </a:solidFill>
                <a:latin typeface="맑은 고딕"/>
              </a:rPr>
              <a:t>· 최근 24시간 관측 → 향후 12시간 예측</a:t>
            </a:r>
          </a:p>
        </p:txBody>
      </p:sp>
      <p:sp>
        <p:nvSpPr>
          <p:cNvPr id="1011" name="T1012"/>
          <p:cNvSpPr txBox="1"/>
          <p:nvPr/>
        </p:nvSpPr>
        <p:spPr>
          <a:xfrm>
            <a:off x="8661400" y="2434682"/>
            <a:ext cx="9398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9B1B30"/>
                </a:solidFill>
                <a:latin typeface="맑은 고딕"/>
              </a:rPr>
              <a:t>73%</a:t>
            </a:r>
          </a:p>
        </p:txBody>
      </p:sp>
      <p:sp>
        <p:nvSpPr>
          <p:cNvPr id="1012" name="T1013"/>
          <p:cNvSpPr txBox="1"/>
          <p:nvPr/>
        </p:nvSpPr>
        <p:spPr>
          <a:xfrm>
            <a:off x="8661400" y="2790282"/>
            <a:ext cx="9398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ko-KR" altLang="en-US" sz="950" b="0" dirty="0">
                <a:solidFill>
                  <a:srgbClr val="767676"/>
                </a:solidFill>
                <a:latin typeface="맑은 고딕"/>
              </a:rPr>
              <a:t>월말 3구간 초과 확률</a:t>
            </a:r>
          </a:p>
        </p:txBody>
      </p:sp>
      <p:sp>
        <p:nvSpPr>
          <p:cNvPr id="1013" name="T1014"/>
          <p:cNvSpPr txBox="1"/>
          <p:nvPr/>
        </p:nvSpPr>
        <p:spPr>
          <a:xfrm>
            <a:off x="9652000" y="2434682"/>
            <a:ext cx="9398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9B1B30"/>
                </a:solidFill>
                <a:latin typeface="맑은 고딕"/>
              </a:rPr>
              <a:t>12h</a:t>
            </a:r>
          </a:p>
        </p:txBody>
      </p:sp>
      <p:sp>
        <p:nvSpPr>
          <p:cNvPr id="1014" name="T1015"/>
          <p:cNvSpPr txBox="1"/>
          <p:nvPr/>
        </p:nvSpPr>
        <p:spPr>
          <a:xfrm>
            <a:off x="9652000" y="2790282"/>
            <a:ext cx="9398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ko-KR" altLang="en-US" sz="950" b="0" dirty="0">
                <a:solidFill>
                  <a:srgbClr val="767676"/>
                </a:solidFill>
                <a:latin typeface="맑은 고딕"/>
              </a:rPr>
              <a:t>예측 지평</a:t>
            </a:r>
          </a:p>
        </p:txBody>
      </p:sp>
      <p:sp>
        <p:nvSpPr>
          <p:cNvPr id="1015" name="T1016"/>
          <p:cNvSpPr txBox="1"/>
          <p:nvPr/>
        </p:nvSpPr>
        <p:spPr>
          <a:xfrm>
            <a:off x="10642600" y="2434682"/>
            <a:ext cx="9398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9B1B30"/>
                </a:solidFill>
                <a:latin typeface="맑은 고딕"/>
              </a:rPr>
              <a:t>89가구</a:t>
            </a:r>
          </a:p>
        </p:txBody>
      </p:sp>
      <p:sp>
        <p:nvSpPr>
          <p:cNvPr id="1016" name="T1017"/>
          <p:cNvSpPr txBox="1"/>
          <p:nvPr/>
        </p:nvSpPr>
        <p:spPr>
          <a:xfrm>
            <a:off x="10642600" y="2790282"/>
            <a:ext cx="9398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ko-KR" altLang="en-US" sz="950" b="0" dirty="0">
                <a:solidFill>
                  <a:srgbClr val="767676"/>
                </a:solidFill>
                <a:latin typeface="맑은 고딕"/>
              </a:rPr>
              <a:t>실측 벤치마크</a:t>
            </a:r>
          </a:p>
        </p:txBody>
      </p:sp>
      <p:sp>
        <p:nvSpPr>
          <p:cNvPr id="1017" name="R1018"/>
          <p:cNvSpPr/>
          <p:nvPr/>
        </p:nvSpPr>
        <p:spPr>
          <a:xfrm>
            <a:off x="571500" y="3958682"/>
            <a:ext cx="50800" cy="2286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018" name="T1019"/>
          <p:cNvSpPr txBox="1"/>
          <p:nvPr/>
        </p:nvSpPr>
        <p:spPr>
          <a:xfrm>
            <a:off x="736600" y="3945982"/>
            <a:ext cx="4064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50" b="1" dirty="0">
                <a:solidFill>
                  <a:srgbClr val="9B1B30"/>
                </a:solidFill>
                <a:latin typeface="맑은 고딕"/>
              </a:rPr>
              <a:t>안전  →  이상 탐지</a:t>
            </a:r>
          </a:p>
        </p:txBody>
      </p:sp>
      <p:sp>
        <p:nvSpPr>
          <p:cNvPr id="1019" name="T1020"/>
          <p:cNvSpPr txBox="1"/>
          <p:nvPr/>
        </p:nvSpPr>
        <p:spPr>
          <a:xfrm>
            <a:off x="736600" y="4187282"/>
            <a:ext cx="73660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333333"/>
                </a:solidFill>
                <a:latin typeface="맑은 고딕"/>
              </a:rPr>
              <a:t>오토인코더</a:t>
            </a:r>
            <a:r>
              <a:rPr lang="ko-KR" altLang="en-US" sz="1200" b="0" dirty="0">
                <a:solidFill>
                  <a:srgbClr val="767676"/>
                </a:solidFill>
                <a:latin typeface="맑은 고딕"/>
              </a:rPr>
              <a:t>   정상 데이터만 학습 · 재구성 오차 = 이상 점수</a:t>
            </a:r>
          </a:p>
        </p:txBody>
      </p:sp>
      <p:sp>
        <p:nvSpPr>
          <p:cNvPr id="1020" name="R1021"/>
          <p:cNvSpPr/>
          <p:nvPr/>
        </p:nvSpPr>
        <p:spPr>
          <a:xfrm>
            <a:off x="4699000" y="4644482"/>
            <a:ext cx="9525" cy="1168400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021" name="R1022"/>
          <p:cNvSpPr/>
          <p:nvPr/>
        </p:nvSpPr>
        <p:spPr>
          <a:xfrm>
            <a:off x="8483600" y="4644482"/>
            <a:ext cx="9525" cy="1168400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022" name="T1023"/>
          <p:cNvSpPr txBox="1"/>
          <p:nvPr/>
        </p:nvSpPr>
        <p:spPr>
          <a:xfrm>
            <a:off x="736600" y="4695282"/>
            <a:ext cx="37846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050" b="1" dirty="0">
                <a:solidFill>
                  <a:srgbClr val="767676"/>
                </a:solidFill>
                <a:latin typeface="맑은 고딕"/>
              </a:rPr>
              <a:t>왜 이 모델인가</a:t>
            </a:r>
          </a:p>
        </p:txBody>
      </p:sp>
      <p:sp>
        <p:nvSpPr>
          <p:cNvPr id="1023" name="T1024"/>
          <p:cNvSpPr txBox="1"/>
          <p:nvPr/>
        </p:nvSpPr>
        <p:spPr>
          <a:xfrm>
            <a:off x="4876800" y="4695282"/>
            <a:ext cx="3454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050" b="1" dirty="0">
                <a:solidFill>
                  <a:srgbClr val="767676"/>
                </a:solidFill>
                <a:latin typeface="맑은 고딕"/>
              </a:rPr>
              <a:t>어떻게 검증했나</a:t>
            </a:r>
          </a:p>
        </p:txBody>
      </p:sp>
      <p:sp>
        <p:nvSpPr>
          <p:cNvPr id="1024" name="T1025"/>
          <p:cNvSpPr txBox="1"/>
          <p:nvPr/>
        </p:nvSpPr>
        <p:spPr>
          <a:xfrm>
            <a:off x="8661400" y="4695282"/>
            <a:ext cx="29718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050" b="1" dirty="0">
                <a:solidFill>
                  <a:srgbClr val="767676"/>
                </a:solidFill>
                <a:latin typeface="맑은 고딕"/>
              </a:rPr>
              <a:t>결과</a:t>
            </a:r>
          </a:p>
        </p:txBody>
      </p:sp>
      <p:sp>
        <p:nvSpPr>
          <p:cNvPr id="1025" name="T1026"/>
          <p:cNvSpPr txBox="1"/>
          <p:nvPr/>
        </p:nvSpPr>
        <p:spPr>
          <a:xfrm>
            <a:off x="736600" y="4923882"/>
            <a:ext cx="3784600" cy="863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  <a:buNone/>
            </a:pPr>
            <a:r>
              <a:rPr lang="ko-KR" altLang="en-US" sz="1200" b="0" dirty="0">
                <a:solidFill>
                  <a:srgbClr val="333333"/>
                </a:solidFill>
                <a:latin typeface="맑은 고딕"/>
              </a:rPr>
              <a:t>· 이상 사례는 라벨이 없고 극히 드묾 → 지도학습 불가</a:t>
            </a:r>
          </a:p>
          <a:p>
            <a:pPr algn="l">
              <a:lnSpc>
                <a:spcPct val="125000"/>
              </a:lnSpc>
              <a:spcAft>
                <a:spcPts val="500"/>
              </a:spcAft>
              <a:buNone/>
            </a:pPr>
            <a:r>
              <a:rPr lang="ko-KR" altLang="en-US" sz="1200" b="0" dirty="0">
                <a:solidFill>
                  <a:srgbClr val="333333"/>
                </a:solidFill>
                <a:latin typeface="맑은 고딕"/>
              </a:rPr>
              <a:t>· 재구성 오차 = ‘평소’에서 벗어난 정도</a:t>
            </a:r>
          </a:p>
        </p:txBody>
      </p:sp>
      <p:sp>
        <p:nvSpPr>
          <p:cNvPr id="1026" name="T1027"/>
          <p:cNvSpPr txBox="1"/>
          <p:nvPr/>
        </p:nvSpPr>
        <p:spPr>
          <a:xfrm>
            <a:off x="4876800" y="4923882"/>
            <a:ext cx="3454400" cy="863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  <a:buNone/>
            </a:pPr>
            <a:r>
              <a:rPr lang="ko-KR" altLang="en-US" sz="1200" b="0" dirty="0">
                <a:solidFill>
                  <a:srgbClr val="333333"/>
                </a:solidFill>
                <a:latin typeface="맑은 고딕"/>
              </a:rPr>
              <a:t>· AI Hub NILM 110가구로 정상 패턴 학습</a:t>
            </a:r>
          </a:p>
          <a:p>
            <a:pPr algn="l">
              <a:lnSpc>
                <a:spcPct val="125000"/>
              </a:lnSpc>
              <a:spcAft>
                <a:spcPts val="500"/>
              </a:spcAft>
              <a:buNone/>
            </a:pPr>
            <a:r>
              <a:rPr lang="ko-KR" altLang="en-US" sz="1200" b="0" dirty="0">
                <a:solidFill>
                  <a:srgbClr val="333333"/>
                </a:solidFill>
                <a:latin typeface="맑은 고딕"/>
              </a:rPr>
              <a:t>· 합성 1인가구에 이상 4종 주입</a:t>
            </a:r>
          </a:p>
          <a:p>
            <a:pPr algn="l">
              <a:lnSpc>
                <a:spcPct val="125000"/>
              </a:lnSpc>
              <a:spcAft>
                <a:spcPts val="500"/>
              </a:spcAft>
              <a:buNone/>
            </a:pPr>
            <a:r>
              <a:rPr lang="ko-KR" altLang="en-US" sz="1200" b="0" dirty="0">
                <a:solidFill>
                  <a:srgbClr val="333333"/>
                </a:solidFill>
                <a:latin typeface="맑은 고딕"/>
              </a:rPr>
              <a:t>· holdout 가구에서도 재현 검증</a:t>
            </a:r>
          </a:p>
        </p:txBody>
      </p:sp>
      <p:sp>
        <p:nvSpPr>
          <p:cNvPr id="1027" name="T1028"/>
          <p:cNvSpPr txBox="1"/>
          <p:nvPr/>
        </p:nvSpPr>
        <p:spPr>
          <a:xfrm>
            <a:off x="8661400" y="4847682"/>
            <a:ext cx="69215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9B1B30"/>
                </a:solidFill>
                <a:latin typeface="맑은 고딕"/>
              </a:rPr>
              <a:t>0.90</a:t>
            </a:r>
          </a:p>
        </p:txBody>
      </p:sp>
      <p:sp>
        <p:nvSpPr>
          <p:cNvPr id="1028" name="T1029"/>
          <p:cNvSpPr txBox="1"/>
          <p:nvPr/>
        </p:nvSpPr>
        <p:spPr>
          <a:xfrm>
            <a:off x="8661400" y="5203282"/>
            <a:ext cx="69215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ko-KR" altLang="en-US" sz="950" b="0" dirty="0">
                <a:solidFill>
                  <a:srgbClr val="767676"/>
                </a:solidFill>
                <a:latin typeface="맑은 고딕"/>
              </a:rPr>
              <a:t>F1 점수</a:t>
            </a:r>
          </a:p>
        </p:txBody>
      </p:sp>
      <p:sp>
        <p:nvSpPr>
          <p:cNvPr id="1029" name="T1030"/>
          <p:cNvSpPr txBox="1"/>
          <p:nvPr/>
        </p:nvSpPr>
        <p:spPr>
          <a:xfrm>
            <a:off x="9404350" y="4847682"/>
            <a:ext cx="69215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9B1B30"/>
                </a:solidFill>
                <a:latin typeface="맑은 고딕"/>
              </a:rPr>
              <a:t>0.93</a:t>
            </a:r>
          </a:p>
        </p:txBody>
      </p:sp>
      <p:sp>
        <p:nvSpPr>
          <p:cNvPr id="1030" name="T1031"/>
          <p:cNvSpPr txBox="1"/>
          <p:nvPr/>
        </p:nvSpPr>
        <p:spPr>
          <a:xfrm>
            <a:off x="9404350" y="5203282"/>
            <a:ext cx="69215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ko-KR" altLang="en-US" sz="950" b="0" dirty="0">
                <a:solidFill>
                  <a:srgbClr val="767676"/>
                </a:solidFill>
                <a:latin typeface="맑은 고딕"/>
              </a:rPr>
              <a:t>재현율</a:t>
            </a:r>
          </a:p>
        </p:txBody>
      </p:sp>
      <p:sp>
        <p:nvSpPr>
          <p:cNvPr id="1031" name="T1032"/>
          <p:cNvSpPr txBox="1"/>
          <p:nvPr/>
        </p:nvSpPr>
        <p:spPr>
          <a:xfrm>
            <a:off x="10147300" y="4847682"/>
            <a:ext cx="69215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9B1B30"/>
                </a:solidFill>
                <a:latin typeface="맑은 고딕"/>
              </a:rPr>
              <a:t>0.10</a:t>
            </a:r>
          </a:p>
        </p:txBody>
      </p:sp>
      <p:sp>
        <p:nvSpPr>
          <p:cNvPr id="1032" name="T1033"/>
          <p:cNvSpPr txBox="1"/>
          <p:nvPr/>
        </p:nvSpPr>
        <p:spPr>
          <a:xfrm>
            <a:off x="10147300" y="5203282"/>
            <a:ext cx="69215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ko-KR" altLang="en-US" sz="950" b="0" dirty="0">
                <a:solidFill>
                  <a:srgbClr val="767676"/>
                </a:solidFill>
                <a:latin typeface="맑은 고딕"/>
              </a:rPr>
              <a:t>오탐률</a:t>
            </a:r>
          </a:p>
        </p:txBody>
      </p:sp>
      <p:sp>
        <p:nvSpPr>
          <p:cNvPr id="1033" name="T1034"/>
          <p:cNvSpPr txBox="1"/>
          <p:nvPr/>
        </p:nvSpPr>
        <p:spPr>
          <a:xfrm>
            <a:off x="10890250" y="4847682"/>
            <a:ext cx="69215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9B1B30"/>
                </a:solidFill>
                <a:latin typeface="맑은 고딕"/>
              </a:rPr>
              <a:t>1일</a:t>
            </a:r>
          </a:p>
        </p:txBody>
      </p:sp>
      <p:sp>
        <p:nvSpPr>
          <p:cNvPr id="1034" name="T1035"/>
          <p:cNvSpPr txBox="1"/>
          <p:nvPr/>
        </p:nvSpPr>
        <p:spPr>
          <a:xfrm>
            <a:off x="10890250" y="5203282"/>
            <a:ext cx="69215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ko-KR" altLang="en-US" sz="950" b="0" dirty="0">
                <a:solidFill>
                  <a:srgbClr val="767676"/>
                </a:solidFill>
                <a:latin typeface="맑은 고딕"/>
              </a:rPr>
              <a:t>리드타임</a:t>
            </a:r>
          </a:p>
        </p:txBody>
      </p:sp>
      <p:sp>
        <p:nvSpPr>
          <p:cNvPr id="1035" name="R1036"/>
          <p:cNvSpPr/>
          <p:nvPr/>
        </p:nvSpPr>
        <p:spPr>
          <a:xfrm>
            <a:off x="571500" y="3628482"/>
            <a:ext cx="11061700" cy="9525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036" name="T1037"/>
          <p:cNvSpPr txBox="1"/>
          <p:nvPr/>
        </p:nvSpPr>
        <p:spPr>
          <a:xfrm>
            <a:off x="571500" y="6066882"/>
            <a:ext cx="110617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0" dirty="0">
                <a:solidFill>
                  <a:srgbClr val="6E6E6E"/>
                </a:solidFill>
                <a:latin typeface="맑은 고딕"/>
              </a:rPr>
              <a:t>· 예측 모델 비교는 89가구 벤치마크로 진행 중 · 이상탐지는 합성 데이터 PoC, 자취방 실측 검증은 다음 단계</a:t>
            </a:r>
          </a:p>
        </p:txBody>
      </p:sp>
    </p:spTree>
    <p:extLst>
      <p:ext uri="{BB962C8B-B14F-4D97-AF65-F5344CB8AC3E}">
        <p14:creationId xmlns:p14="http://schemas.microsoft.com/office/powerpoint/2010/main" val="4248702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93598-C71E-A903-8C18-185C14C03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C398E98-3E5B-7BA5-F19A-0C329C406DF0}"/>
              </a:ext>
            </a:extLst>
          </p:cNvPr>
          <p:cNvSpPr txBox="1"/>
          <p:nvPr/>
        </p:nvSpPr>
        <p:spPr>
          <a:xfrm>
            <a:off x="566928" y="273346"/>
            <a:ext cx="10424160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ko-KR" sz="2500" b="1" dirty="0">
                <a:solidFill>
                  <a:srgbClr val="333333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4. </a:t>
            </a:r>
            <a:r>
              <a:rPr lang="ko-KR" altLang="en-US" sz="2500" b="1" dirty="0">
                <a:solidFill>
                  <a:srgbClr val="333333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방법론 및 결과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4951D7-85A0-C795-968C-BDC35E723685}"/>
              </a:ext>
            </a:extLst>
          </p:cNvPr>
          <p:cNvSpPr/>
          <p:nvPr/>
        </p:nvSpPr>
        <p:spPr>
          <a:xfrm>
            <a:off x="566928" y="796590"/>
            <a:ext cx="11064240" cy="18288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슬라이드 번호 개체 틀 38">
            <a:extLst>
              <a:ext uri="{FF2B5EF4-FFF2-40B4-BE49-F238E27FC236}">
                <a16:creationId xmlns:a16="http://schemas.microsoft.com/office/drawing/2014/main" id="{A6848218-50AE-C9B0-F7CD-8FA866318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9189" y="6420145"/>
            <a:ext cx="2743200" cy="365125"/>
          </a:xfrm>
        </p:spPr>
        <p:txBody>
          <a:bodyPr/>
          <a:lstStyle/>
          <a:p>
            <a:fld id="{7F40F4AC-C263-BF4D-B85D-2209F4D7F591}" type="slidenum">
              <a:rPr kumimoji="1" lang="ko-KR" altLang="en-US" smtClean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7</a:t>
            </a:fld>
            <a:endParaRPr kumimoji="1" lang="ko-KR" altLang="en-US"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B7D50F-C2F0-B026-D7D8-59AAF37EC3E5}"/>
              </a:ext>
            </a:extLst>
          </p:cNvPr>
          <p:cNvSpPr txBox="1"/>
          <p:nvPr/>
        </p:nvSpPr>
        <p:spPr>
          <a:xfrm>
            <a:off x="6583680" y="292608"/>
            <a:ext cx="521208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2026 KETI AI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융합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응용기술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아이디어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경진대회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en-US" altLang="ko-KR"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차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중간발표회</a:t>
            </a:r>
            <a:endParaRPr sz="900" b="0" dirty="0">
              <a:solidFill>
                <a:srgbClr val="595959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100" name="T1101"/>
          <p:cNvSpPr txBox="1"/>
          <p:nvPr/>
        </p:nvSpPr>
        <p:spPr>
          <a:xfrm>
            <a:off x="571500" y="939800"/>
            <a:ext cx="110617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333333"/>
                </a:solidFill>
                <a:latin typeface="맑은 고딕"/>
              </a:rPr>
              <a:t>예측 분포가 누진 구간 진입을 3일 전에 경고하고, 가전별 분해가 절감 지점을 지목한다 — 태양광은 4.3년에 회수</a:t>
            </a:r>
          </a:p>
        </p:txBody>
      </p:sp>
      <p:sp>
        <p:nvSpPr>
          <p:cNvPr id="1101" name="T1102"/>
          <p:cNvSpPr txBox="1"/>
          <p:nvPr/>
        </p:nvSpPr>
        <p:spPr>
          <a:xfrm>
            <a:off x="571500" y="1219200"/>
            <a:ext cx="2667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2200" b="1" dirty="0">
                <a:solidFill>
                  <a:srgbClr val="9B1B30"/>
                </a:solidFill>
                <a:latin typeface="맑은 고딕"/>
              </a:rPr>
              <a:t>366kWh</a:t>
            </a:r>
          </a:p>
        </p:txBody>
      </p:sp>
      <p:sp>
        <p:nvSpPr>
          <p:cNvPr id="1102" name="T1103"/>
          <p:cNvSpPr txBox="1"/>
          <p:nvPr/>
        </p:nvSpPr>
        <p:spPr>
          <a:xfrm>
            <a:off x="571500" y="1625600"/>
            <a:ext cx="2667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6E6E6E"/>
                </a:solidFill>
                <a:latin typeface="맑은 고딕"/>
              </a:rPr>
              <a:t>이번 달 예상 사용량</a:t>
            </a:r>
          </a:p>
        </p:txBody>
      </p:sp>
      <p:sp>
        <p:nvSpPr>
          <p:cNvPr id="1103" name="T1104"/>
          <p:cNvSpPr txBox="1"/>
          <p:nvPr/>
        </p:nvSpPr>
        <p:spPr>
          <a:xfrm>
            <a:off x="3352800" y="1219200"/>
            <a:ext cx="2667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2200" b="1" dirty="0">
                <a:solidFill>
                  <a:srgbClr val="9B1B30"/>
                </a:solidFill>
                <a:latin typeface="맑은 고딕"/>
              </a:rPr>
              <a:t>69,611원</a:t>
            </a:r>
          </a:p>
        </p:txBody>
      </p:sp>
      <p:sp>
        <p:nvSpPr>
          <p:cNvPr id="1104" name="T1105"/>
          <p:cNvSpPr txBox="1"/>
          <p:nvPr/>
        </p:nvSpPr>
        <p:spPr>
          <a:xfrm>
            <a:off x="3352800" y="1625600"/>
            <a:ext cx="2667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6E6E6E"/>
                </a:solidFill>
                <a:latin typeface="맑은 고딕"/>
              </a:rPr>
              <a:t>예상 청구요금</a:t>
            </a:r>
          </a:p>
        </p:txBody>
      </p:sp>
      <p:sp>
        <p:nvSpPr>
          <p:cNvPr id="1105" name="T1106"/>
          <p:cNvSpPr txBox="1"/>
          <p:nvPr/>
        </p:nvSpPr>
        <p:spPr>
          <a:xfrm>
            <a:off x="6134100" y="1219200"/>
            <a:ext cx="2667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2200" b="1" dirty="0">
                <a:solidFill>
                  <a:srgbClr val="9B1B30"/>
                </a:solidFill>
                <a:latin typeface="맑은 고딕"/>
              </a:rPr>
              <a:t>34kWh</a:t>
            </a:r>
          </a:p>
        </p:txBody>
      </p:sp>
      <p:sp>
        <p:nvSpPr>
          <p:cNvPr id="1106" name="T1107"/>
          <p:cNvSpPr txBox="1"/>
          <p:nvPr/>
        </p:nvSpPr>
        <p:spPr>
          <a:xfrm>
            <a:off x="6134100" y="1625600"/>
            <a:ext cx="2667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6E6E6E"/>
                </a:solidFill>
                <a:latin typeface="맑은 고딕"/>
              </a:rPr>
              <a:t>3구간까지 여유 · 약 3일</a:t>
            </a:r>
          </a:p>
        </p:txBody>
      </p:sp>
      <p:sp>
        <p:nvSpPr>
          <p:cNvPr id="1107" name="T1108"/>
          <p:cNvSpPr txBox="1"/>
          <p:nvPr/>
        </p:nvSpPr>
        <p:spPr>
          <a:xfrm>
            <a:off x="8915400" y="1219200"/>
            <a:ext cx="2667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2200" b="1" dirty="0">
                <a:solidFill>
                  <a:srgbClr val="9B1B30"/>
                </a:solidFill>
                <a:latin typeface="맑은 고딕"/>
              </a:rPr>
              <a:t>4.3년</a:t>
            </a:r>
          </a:p>
        </p:txBody>
      </p:sp>
      <p:sp>
        <p:nvSpPr>
          <p:cNvPr id="1108" name="T1109"/>
          <p:cNvSpPr txBox="1"/>
          <p:nvPr/>
        </p:nvSpPr>
        <p:spPr>
          <a:xfrm>
            <a:off x="8915400" y="1625600"/>
            <a:ext cx="2667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6E6E6E"/>
                </a:solidFill>
                <a:latin typeface="맑은 고딕"/>
              </a:rPr>
              <a:t>태양광 회수 기간</a:t>
            </a:r>
          </a:p>
        </p:txBody>
      </p:sp>
      <p:sp>
        <p:nvSpPr>
          <p:cNvPr id="1109" name="R1110"/>
          <p:cNvSpPr/>
          <p:nvPr/>
        </p:nvSpPr>
        <p:spPr>
          <a:xfrm>
            <a:off x="571500" y="1930400"/>
            <a:ext cx="11061700" cy="9525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110" name="T1111"/>
          <p:cNvSpPr txBox="1"/>
          <p:nvPr/>
        </p:nvSpPr>
        <p:spPr>
          <a:xfrm>
            <a:off x="571500" y="2108200"/>
            <a:ext cx="660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333333"/>
                </a:solidFill>
                <a:latin typeface="맑은 고딕"/>
              </a:rPr>
              <a:t>가전별 월 사용량 분해, 366kWh 기준</a:t>
            </a:r>
          </a:p>
        </p:txBody>
      </p:sp>
      <p:sp>
        <p:nvSpPr>
          <p:cNvPr id="1111" name="T1112"/>
          <p:cNvSpPr txBox="1"/>
          <p:nvPr/>
        </p:nvSpPr>
        <p:spPr>
          <a:xfrm>
            <a:off x="571500" y="2324100"/>
            <a:ext cx="6604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6E6E6E"/>
                </a:solidFill>
                <a:latin typeface="맑은 고딕"/>
              </a:rPr>
              <a:t>합성 NILM 추정 · 파레토 정렬</a:t>
            </a:r>
          </a:p>
        </p:txBody>
      </p:sp>
      <p:sp>
        <p:nvSpPr>
          <p:cNvPr id="1112" name="T1113"/>
          <p:cNvSpPr txBox="1"/>
          <p:nvPr/>
        </p:nvSpPr>
        <p:spPr>
          <a:xfrm>
            <a:off x="7493000" y="2108200"/>
            <a:ext cx="41402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333333"/>
                </a:solidFill>
                <a:latin typeface="맑은 고딕"/>
              </a:rPr>
              <a:t>태양광 손익분기 · 2.70kW (패널 6장)</a:t>
            </a:r>
          </a:p>
        </p:txBody>
      </p:sp>
      <p:sp>
        <p:nvSpPr>
          <p:cNvPr id="1113" name="T1114"/>
          <p:cNvSpPr txBox="1"/>
          <p:nvPr/>
        </p:nvSpPr>
        <p:spPr>
          <a:xfrm>
            <a:off x="7493000" y="2438400"/>
            <a:ext cx="228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333333"/>
                </a:solidFill>
                <a:latin typeface="맑은 고딕"/>
              </a:rPr>
              <a:t>설치비</a:t>
            </a:r>
          </a:p>
        </p:txBody>
      </p:sp>
      <p:sp>
        <p:nvSpPr>
          <p:cNvPr id="1114" name="T1115"/>
          <p:cNvSpPr txBox="1"/>
          <p:nvPr/>
        </p:nvSpPr>
        <p:spPr>
          <a:xfrm>
            <a:off x="9779000" y="2438400"/>
            <a:ext cx="18542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333333"/>
                </a:solidFill>
                <a:latin typeface="맑은 고딕"/>
              </a:rPr>
              <a:t>3,720,000원</a:t>
            </a:r>
          </a:p>
        </p:txBody>
      </p:sp>
      <p:sp>
        <p:nvSpPr>
          <p:cNvPr id="1115" name="R1116"/>
          <p:cNvSpPr/>
          <p:nvPr/>
        </p:nvSpPr>
        <p:spPr>
          <a:xfrm>
            <a:off x="7493000" y="2717800"/>
            <a:ext cx="4140200" cy="9525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116" name="T1117"/>
          <p:cNvSpPr txBox="1"/>
          <p:nvPr/>
        </p:nvSpPr>
        <p:spPr>
          <a:xfrm>
            <a:off x="7493000" y="2819400"/>
            <a:ext cx="228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333333"/>
                </a:solidFill>
                <a:latin typeface="맑은 고딕"/>
              </a:rPr>
              <a:t>연간 발전량</a:t>
            </a:r>
          </a:p>
        </p:txBody>
      </p:sp>
      <p:sp>
        <p:nvSpPr>
          <p:cNvPr id="1117" name="T1118"/>
          <p:cNvSpPr txBox="1"/>
          <p:nvPr/>
        </p:nvSpPr>
        <p:spPr>
          <a:xfrm>
            <a:off x="9779000" y="2819400"/>
            <a:ext cx="18542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333333"/>
                </a:solidFill>
                <a:latin typeface="맑은 고딕"/>
              </a:rPr>
              <a:t>3,449kWh</a:t>
            </a:r>
          </a:p>
        </p:txBody>
      </p:sp>
      <p:sp>
        <p:nvSpPr>
          <p:cNvPr id="1118" name="R1119"/>
          <p:cNvSpPr/>
          <p:nvPr/>
        </p:nvSpPr>
        <p:spPr>
          <a:xfrm>
            <a:off x="7493000" y="3098800"/>
            <a:ext cx="4140200" cy="9525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119" name="T1120"/>
          <p:cNvSpPr txBox="1"/>
          <p:nvPr/>
        </p:nvSpPr>
        <p:spPr>
          <a:xfrm>
            <a:off x="7493000" y="3200400"/>
            <a:ext cx="228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333333"/>
                </a:solidFill>
                <a:latin typeface="맑은 고딕"/>
              </a:rPr>
              <a:t>연간 절감액</a:t>
            </a:r>
          </a:p>
        </p:txBody>
      </p:sp>
      <p:sp>
        <p:nvSpPr>
          <p:cNvPr id="1120" name="T1121"/>
          <p:cNvSpPr txBox="1"/>
          <p:nvPr/>
        </p:nvSpPr>
        <p:spPr>
          <a:xfrm>
            <a:off x="9779000" y="3200400"/>
            <a:ext cx="18542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333333"/>
                </a:solidFill>
                <a:latin typeface="맑은 고딕"/>
              </a:rPr>
              <a:t>862,313원</a:t>
            </a:r>
          </a:p>
        </p:txBody>
      </p:sp>
      <p:sp>
        <p:nvSpPr>
          <p:cNvPr id="1121" name="R1122"/>
          <p:cNvSpPr/>
          <p:nvPr/>
        </p:nvSpPr>
        <p:spPr>
          <a:xfrm>
            <a:off x="7493000" y="3479800"/>
            <a:ext cx="4140200" cy="9525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122" name="T1123"/>
          <p:cNvSpPr txBox="1"/>
          <p:nvPr/>
        </p:nvSpPr>
        <p:spPr>
          <a:xfrm>
            <a:off x="7493000" y="3581400"/>
            <a:ext cx="228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333333"/>
                </a:solidFill>
                <a:latin typeface="맑은 고딕"/>
              </a:rPr>
              <a:t>손익분기</a:t>
            </a:r>
          </a:p>
        </p:txBody>
      </p:sp>
      <p:sp>
        <p:nvSpPr>
          <p:cNvPr id="1123" name="T1124"/>
          <p:cNvSpPr txBox="1"/>
          <p:nvPr/>
        </p:nvSpPr>
        <p:spPr>
          <a:xfrm>
            <a:off x="9779000" y="3581400"/>
            <a:ext cx="18542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9B1B30"/>
                </a:solidFill>
                <a:latin typeface="맑은 고딕"/>
              </a:rPr>
              <a:t>4.3년</a:t>
            </a:r>
          </a:p>
        </p:txBody>
      </p:sp>
      <p:sp>
        <p:nvSpPr>
          <p:cNvPr id="1124" name="R1125"/>
          <p:cNvSpPr/>
          <p:nvPr/>
        </p:nvSpPr>
        <p:spPr>
          <a:xfrm>
            <a:off x="7493000" y="3860800"/>
            <a:ext cx="4140200" cy="9525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125" name="T1126"/>
          <p:cNvSpPr txBox="1"/>
          <p:nvPr/>
        </p:nvSpPr>
        <p:spPr>
          <a:xfrm>
            <a:off x="7493000" y="4191000"/>
            <a:ext cx="41402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333333"/>
                </a:solidFill>
                <a:latin typeface="맑은 고딕"/>
              </a:rPr>
              <a:t>절감 여지</a:t>
            </a:r>
          </a:p>
        </p:txBody>
      </p:sp>
      <p:sp>
        <p:nvSpPr>
          <p:cNvPr id="1126" name="T1127"/>
          <p:cNvSpPr txBox="1"/>
          <p:nvPr/>
        </p:nvSpPr>
        <p:spPr>
          <a:xfrm>
            <a:off x="7493000" y="4521200"/>
            <a:ext cx="4140200" cy="10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  <a:buNone/>
            </a:pPr>
            <a:r>
              <a:rPr lang="ko-KR" altLang="en-US" sz="1200" b="0" dirty="0">
                <a:solidFill>
                  <a:srgbClr val="333333"/>
                </a:solidFill>
                <a:latin typeface="맑은 고딕"/>
              </a:rPr>
              <a:t>· 저녁 피크가 뚜렷 → 세탁·건조를 심야로 이동</a:t>
            </a:r>
          </a:p>
          <a:p>
            <a:pPr algn="l">
              <a:lnSpc>
                <a:spcPct val="125000"/>
              </a:lnSpc>
              <a:spcAft>
                <a:spcPts val="500"/>
              </a:spcAft>
              <a:buNone/>
            </a:pPr>
            <a:r>
              <a:rPr lang="ko-KR" altLang="en-US" sz="1200" b="0" dirty="0">
                <a:solidFill>
                  <a:srgbClr val="333333"/>
                </a:solidFill>
                <a:latin typeface="맑은 고딕"/>
              </a:rPr>
              <a:t>· 주말 오후 사용 집중 · 7·8월 냉방으로 3구간 근접</a:t>
            </a:r>
          </a:p>
          <a:p>
            <a:pPr algn="l">
              <a:lnSpc>
                <a:spcPct val="125000"/>
              </a:lnSpc>
              <a:spcAft>
                <a:spcPts val="500"/>
              </a:spcAft>
              <a:buNone/>
            </a:pPr>
            <a:r>
              <a:rPr lang="ko-KR" altLang="en-US" sz="1200" b="0" dirty="0">
                <a:solidFill>
                  <a:srgbClr val="333333"/>
                </a:solidFill>
                <a:latin typeface="맑은 고딕"/>
              </a:rPr>
              <a:t>· 에어컨·냉장고 2종이 월 사용량의 42%</a:t>
            </a:r>
          </a:p>
        </p:txBody>
      </p:sp>
      <p:sp>
        <p:nvSpPr>
          <p:cNvPr id="1127" name="T1128"/>
          <p:cNvSpPr txBox="1"/>
          <p:nvPr/>
        </p:nvSpPr>
        <p:spPr>
          <a:xfrm>
            <a:off x="571500" y="6045200"/>
            <a:ext cx="110617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6E6E6E"/>
                </a:solidFill>
                <a:latin typeface="맑은 고딕"/>
              </a:rPr>
              <a:t>· 포털 대시보드 시뮬레이션 기준(절감 250원/kWh · 설치 160만원/kW · 보조금 60만원) · 가전별 분해는 합성 NILM 추정</a:t>
            </a:r>
          </a:p>
        </p:txBody>
      </p:sp>
      <p:graphicFrame>
        <p:nvGraphicFramePr>
          <p:cNvPr id="1128" name="Chart"/>
          <p:cNvGraphicFramePr/>
          <p:nvPr/>
        </p:nvGraphicFramePr>
        <p:xfrm>
          <a:off x="444500" y="2540000"/>
          <a:ext cx="6858000" cy="3378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35740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E320F-C176-CFFE-85DB-A0998BA46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71948C-6082-21A3-13CD-FD900036D68C}"/>
              </a:ext>
            </a:extLst>
          </p:cNvPr>
          <p:cNvSpPr txBox="1"/>
          <p:nvPr/>
        </p:nvSpPr>
        <p:spPr>
          <a:xfrm>
            <a:off x="566928" y="273346"/>
            <a:ext cx="10424160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ko-KR" sz="2500" b="1" dirty="0">
                <a:solidFill>
                  <a:srgbClr val="333333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4. </a:t>
            </a:r>
            <a:r>
              <a:rPr lang="ko-KR" altLang="en-US" sz="2500" b="1" dirty="0">
                <a:solidFill>
                  <a:srgbClr val="333333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방법론 및 결과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49FC56-62DB-38F0-E4C9-AC7236C2A3F4}"/>
              </a:ext>
            </a:extLst>
          </p:cNvPr>
          <p:cNvSpPr/>
          <p:nvPr/>
        </p:nvSpPr>
        <p:spPr>
          <a:xfrm>
            <a:off x="566928" y="796590"/>
            <a:ext cx="11064240" cy="18288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슬라이드 번호 개체 틀 38">
            <a:extLst>
              <a:ext uri="{FF2B5EF4-FFF2-40B4-BE49-F238E27FC236}">
                <a16:creationId xmlns:a16="http://schemas.microsoft.com/office/drawing/2014/main" id="{4E9E0D7C-764C-5D57-E43F-63D10373C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9189" y="6420145"/>
            <a:ext cx="2743200" cy="365125"/>
          </a:xfrm>
        </p:spPr>
        <p:txBody>
          <a:bodyPr/>
          <a:lstStyle/>
          <a:p>
            <a:fld id="{7F40F4AC-C263-BF4D-B85D-2209F4D7F591}" type="slidenum">
              <a:rPr kumimoji="1" lang="ko-KR" altLang="en-US" smtClean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8</a:t>
            </a:fld>
            <a:endParaRPr kumimoji="1" lang="ko-KR" altLang="en-US"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B99F17-F8A3-E414-F3AA-AEC726030D49}"/>
              </a:ext>
            </a:extLst>
          </p:cNvPr>
          <p:cNvSpPr txBox="1"/>
          <p:nvPr/>
        </p:nvSpPr>
        <p:spPr>
          <a:xfrm>
            <a:off x="6583680" y="292608"/>
            <a:ext cx="521208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2026 KETI AI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융합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응용기술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아이디어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경진대회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en-US" altLang="ko-KR"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차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중간발표회</a:t>
            </a:r>
            <a:endParaRPr sz="900" b="0" dirty="0">
              <a:solidFill>
                <a:srgbClr val="595959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pic>
        <p:nvPicPr>
          <p:cNvPr id="20" name="Picture 21" descr="error_timeline.png">
            <a:extLst>
              <a:ext uri="{FF2B5EF4-FFF2-40B4-BE49-F238E27FC236}">
                <a16:creationId xmlns:a16="http://schemas.microsoft.com/office/drawing/2014/main" id="{FB0806CA-60AD-C769-2242-F75215B2E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514600"/>
            <a:ext cx="6547104" cy="2023650"/>
          </a:xfrm>
          <a:prstGeom prst="rect">
            <a:avLst/>
          </a:prstGeom>
        </p:spPr>
      </p:pic>
      <p:pic>
        <p:nvPicPr>
          <p:cNvPr id="23" name="Picture 24" descr="error_dist.png">
            <a:extLst>
              <a:ext uri="{FF2B5EF4-FFF2-40B4-BE49-F238E27FC236}">
                <a16:creationId xmlns:a16="http://schemas.microsoft.com/office/drawing/2014/main" id="{AC9C44ED-1B7C-582E-AF6E-0B00793AC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514599"/>
            <a:ext cx="4146352" cy="2043425"/>
          </a:xfrm>
          <a:prstGeom prst="rect">
            <a:avLst/>
          </a:prstGeom>
        </p:spPr>
      </p:pic>
      <p:sp>
        <p:nvSpPr>
          <p:cNvPr id="1200" name="T1201"/>
          <p:cNvSpPr txBox="1"/>
          <p:nvPr/>
        </p:nvSpPr>
        <p:spPr>
          <a:xfrm>
            <a:off x="571500" y="939800"/>
            <a:ext cx="110617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333333"/>
                </a:solidFill>
                <a:latin typeface="맑은 고딕"/>
              </a:rPr>
              <a:t>합성 1인가구 데이터로 오토인코더를 학습시키고 이상 4종을 주입해, 활동정지 5일 에피소드를 첫날 탐지했다</a:t>
            </a:r>
          </a:p>
        </p:txBody>
      </p:sp>
      <p:sp>
        <p:nvSpPr>
          <p:cNvPr id="1201" name="T1202"/>
          <p:cNvSpPr txBox="1"/>
          <p:nvPr/>
        </p:nvSpPr>
        <p:spPr>
          <a:xfrm>
            <a:off x="571500" y="1219200"/>
            <a:ext cx="2667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2200" b="1" dirty="0">
                <a:solidFill>
                  <a:srgbClr val="9B1B30"/>
                </a:solidFill>
                <a:latin typeface="맑은 고딕"/>
              </a:rPr>
              <a:t>0.90</a:t>
            </a:r>
          </a:p>
        </p:txBody>
      </p:sp>
      <p:sp>
        <p:nvSpPr>
          <p:cNvPr id="1202" name="T1203"/>
          <p:cNvSpPr txBox="1"/>
          <p:nvPr/>
        </p:nvSpPr>
        <p:spPr>
          <a:xfrm>
            <a:off x="571500" y="1625600"/>
            <a:ext cx="2667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6E6E6E"/>
                </a:solidFill>
                <a:latin typeface="맑은 고딕"/>
              </a:rPr>
              <a:t>F1 점수</a:t>
            </a:r>
          </a:p>
        </p:txBody>
      </p:sp>
      <p:sp>
        <p:nvSpPr>
          <p:cNvPr id="1203" name="T1204"/>
          <p:cNvSpPr txBox="1"/>
          <p:nvPr/>
        </p:nvSpPr>
        <p:spPr>
          <a:xfrm>
            <a:off x="3352800" y="1219200"/>
            <a:ext cx="2667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2200" b="1" dirty="0">
                <a:solidFill>
                  <a:srgbClr val="9B1B30"/>
                </a:solidFill>
                <a:latin typeface="맑은 고딕"/>
              </a:rPr>
              <a:t>0.93</a:t>
            </a:r>
          </a:p>
        </p:txBody>
      </p:sp>
      <p:sp>
        <p:nvSpPr>
          <p:cNvPr id="1204" name="T1205"/>
          <p:cNvSpPr txBox="1"/>
          <p:nvPr/>
        </p:nvSpPr>
        <p:spPr>
          <a:xfrm>
            <a:off x="3352800" y="1625600"/>
            <a:ext cx="2667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6E6E6E"/>
                </a:solidFill>
                <a:latin typeface="맑은 고딕"/>
              </a:rPr>
              <a:t>재현율</a:t>
            </a:r>
          </a:p>
        </p:txBody>
      </p:sp>
      <p:sp>
        <p:nvSpPr>
          <p:cNvPr id="1205" name="T1206"/>
          <p:cNvSpPr txBox="1"/>
          <p:nvPr/>
        </p:nvSpPr>
        <p:spPr>
          <a:xfrm>
            <a:off x="6134100" y="1219200"/>
            <a:ext cx="2667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2200" b="1" dirty="0">
                <a:solidFill>
                  <a:srgbClr val="9B1B30"/>
                </a:solidFill>
                <a:latin typeface="맑은 고딕"/>
              </a:rPr>
              <a:t>0.10</a:t>
            </a:r>
          </a:p>
        </p:txBody>
      </p:sp>
      <p:sp>
        <p:nvSpPr>
          <p:cNvPr id="1206" name="T1207"/>
          <p:cNvSpPr txBox="1"/>
          <p:nvPr/>
        </p:nvSpPr>
        <p:spPr>
          <a:xfrm>
            <a:off x="6134100" y="1625600"/>
            <a:ext cx="2667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6E6E6E"/>
                </a:solidFill>
                <a:latin typeface="맑은 고딕"/>
              </a:rPr>
              <a:t>오탐률 (FPR)</a:t>
            </a:r>
          </a:p>
        </p:txBody>
      </p:sp>
      <p:sp>
        <p:nvSpPr>
          <p:cNvPr id="1207" name="T1208"/>
          <p:cNvSpPr txBox="1"/>
          <p:nvPr/>
        </p:nvSpPr>
        <p:spPr>
          <a:xfrm>
            <a:off x="8915400" y="1219200"/>
            <a:ext cx="2667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2200" b="1" dirty="0">
                <a:solidFill>
                  <a:srgbClr val="9B1B30"/>
                </a:solidFill>
                <a:latin typeface="맑은 고딕"/>
              </a:rPr>
              <a:t>1일</a:t>
            </a:r>
          </a:p>
        </p:txBody>
      </p:sp>
      <p:sp>
        <p:nvSpPr>
          <p:cNvPr id="1208" name="T1209"/>
          <p:cNvSpPr txBox="1"/>
          <p:nvPr/>
        </p:nvSpPr>
        <p:spPr>
          <a:xfrm>
            <a:off x="8915400" y="1625600"/>
            <a:ext cx="2667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6E6E6E"/>
                </a:solidFill>
                <a:latin typeface="맑은 고딕"/>
              </a:rPr>
              <a:t>리드타임</a:t>
            </a:r>
          </a:p>
        </p:txBody>
      </p:sp>
      <p:sp>
        <p:nvSpPr>
          <p:cNvPr id="1209" name="R1210"/>
          <p:cNvSpPr/>
          <p:nvPr/>
        </p:nvSpPr>
        <p:spPr>
          <a:xfrm>
            <a:off x="571500" y="1930400"/>
            <a:ext cx="11061700" cy="9525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210" name="T1211"/>
          <p:cNvSpPr txBox="1"/>
          <p:nvPr/>
        </p:nvSpPr>
        <p:spPr>
          <a:xfrm>
            <a:off x="571500" y="2108200"/>
            <a:ext cx="660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333333"/>
                </a:solidFill>
                <a:latin typeface="맑은 고딕"/>
              </a:rPr>
              <a:t>재구성 오차 타임라인 · 정상 20일 → 이상 14일</a:t>
            </a:r>
          </a:p>
        </p:txBody>
      </p:sp>
      <p:sp>
        <p:nvSpPr>
          <p:cNvPr id="1211" name="T1212"/>
          <p:cNvSpPr txBox="1"/>
          <p:nvPr/>
        </p:nvSpPr>
        <p:spPr>
          <a:xfrm>
            <a:off x="571500" y="2324100"/>
            <a:ext cx="6604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6E6E6E"/>
                </a:solidFill>
                <a:latin typeface="맑은 고딕"/>
              </a:rPr>
              <a:t>임계값 = 정상 97분위 (1.16)</a:t>
            </a:r>
          </a:p>
        </p:txBody>
      </p:sp>
      <p:sp>
        <p:nvSpPr>
          <p:cNvPr id="1212" name="T1213"/>
          <p:cNvSpPr txBox="1"/>
          <p:nvPr/>
        </p:nvSpPr>
        <p:spPr>
          <a:xfrm>
            <a:off x="7493000" y="2108200"/>
            <a:ext cx="41402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333333"/>
                </a:solidFill>
                <a:latin typeface="맑은 고딕"/>
              </a:rPr>
              <a:t>오차 분포 · 정상 vs 이상</a:t>
            </a:r>
          </a:p>
        </p:txBody>
      </p:sp>
      <p:sp>
        <p:nvSpPr>
          <p:cNvPr id="1213" name="T1214"/>
          <p:cNvSpPr txBox="1"/>
          <p:nvPr/>
        </p:nvSpPr>
        <p:spPr>
          <a:xfrm>
            <a:off x="7493000" y="2324100"/>
            <a:ext cx="41402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6E6E6E"/>
                </a:solidFill>
                <a:latin typeface="맑은 고딕"/>
              </a:rPr>
              <a:t>정상은 낮게, 이상은 꼬리로 분리</a:t>
            </a:r>
          </a:p>
        </p:txBody>
      </p:sp>
      <p:sp>
        <p:nvSpPr>
          <p:cNvPr id="1214" name="T1215"/>
          <p:cNvSpPr txBox="1"/>
          <p:nvPr/>
        </p:nvSpPr>
        <p:spPr>
          <a:xfrm>
            <a:off x="571500" y="4749800"/>
            <a:ext cx="110617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333333"/>
                </a:solidFill>
                <a:latin typeface="맑은 고딕"/>
              </a:rPr>
              <a:t>읽는 법</a:t>
            </a:r>
          </a:p>
        </p:txBody>
      </p:sp>
      <p:sp>
        <p:nvSpPr>
          <p:cNvPr id="1215" name="T1216"/>
          <p:cNvSpPr txBox="1"/>
          <p:nvPr/>
        </p:nvSpPr>
        <p:spPr>
          <a:xfrm>
            <a:off x="571500" y="5054600"/>
            <a:ext cx="5461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  <a:buNone/>
            </a:pPr>
            <a:r>
              <a:rPr lang="ko-KR" altLang="en-US" sz="1200" b="0" dirty="0">
                <a:solidFill>
                  <a:srgbClr val="333333"/>
                </a:solidFill>
                <a:latin typeface="맑은 고딕"/>
              </a:rPr>
              <a:t>· 활동정지(고독사형) 5일 에피소드를 첫날 탐지 — 리드타임 1일</a:t>
            </a:r>
          </a:p>
          <a:p>
            <a:pPr algn="l">
              <a:lnSpc>
                <a:spcPct val="125000"/>
              </a:lnSpc>
              <a:spcAft>
                <a:spcPts val="500"/>
              </a:spcAft>
              <a:buNone/>
            </a:pPr>
            <a:r>
              <a:rPr lang="ko-KR" altLang="en-US" sz="1200" b="0" dirty="0">
                <a:solidFill>
                  <a:srgbClr val="333333"/>
                </a:solidFill>
                <a:latin typeface="맑은 고딕"/>
              </a:rPr>
              <a:t>· 정상일은 대부분 임계 아래 → 오탐률 10%</a:t>
            </a:r>
          </a:p>
        </p:txBody>
      </p:sp>
      <p:sp>
        <p:nvSpPr>
          <p:cNvPr id="1216" name="T1217"/>
          <p:cNvSpPr txBox="1"/>
          <p:nvPr/>
        </p:nvSpPr>
        <p:spPr>
          <a:xfrm>
            <a:off x="6350000" y="5054600"/>
            <a:ext cx="52832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  <a:buNone/>
            </a:pPr>
            <a:r>
              <a:rPr lang="ko-KR" altLang="en-US" sz="1200" b="0" dirty="0">
                <a:solidFill>
                  <a:srgbClr val="333333"/>
                </a:solidFill>
                <a:latin typeface="맑은 고딕"/>
              </a:rPr>
              <a:t>· 라벨 없이 ‘정상’만 학습해 얻은 결과</a:t>
            </a:r>
          </a:p>
          <a:p>
            <a:pPr algn="l">
              <a:lnSpc>
                <a:spcPct val="125000"/>
              </a:lnSpc>
              <a:spcAft>
                <a:spcPts val="500"/>
              </a:spcAft>
              <a:buNone/>
            </a:pPr>
            <a:r>
              <a:rPr lang="ko-KR" altLang="en-US" sz="1200" b="0" dirty="0">
                <a:solidFill>
                  <a:srgbClr val="333333"/>
                </a:solidFill>
                <a:latin typeface="맑은 고딕"/>
              </a:rPr>
              <a:t>· 출장·여행 등 예외는 즉시 경보 대신 사후 확인으로 헛알림 억제</a:t>
            </a:r>
          </a:p>
        </p:txBody>
      </p:sp>
      <p:sp>
        <p:nvSpPr>
          <p:cNvPr id="1217" name="T1218"/>
          <p:cNvSpPr txBox="1"/>
          <p:nvPr/>
        </p:nvSpPr>
        <p:spPr>
          <a:xfrm>
            <a:off x="571500" y="6045200"/>
            <a:ext cx="110617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6E6E6E"/>
                </a:solidFill>
                <a:latin typeface="맑은 고딕"/>
              </a:rPr>
              <a:t>· 학습 데이터 : AI Hub NILM 110가구(정상 패턴) + 합성 1인가구 · train/holdout 분리 · 자취방 실측 검증은 다음 단계</a:t>
            </a:r>
          </a:p>
        </p:txBody>
      </p:sp>
    </p:spTree>
    <p:extLst>
      <p:ext uri="{BB962C8B-B14F-4D97-AF65-F5344CB8AC3E}">
        <p14:creationId xmlns:p14="http://schemas.microsoft.com/office/powerpoint/2010/main" val="3688924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C3649-8418-221A-0821-46A7E0D00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E30BE23-91A0-BB2D-ECFC-B1C3817D0C7E}"/>
              </a:ext>
            </a:extLst>
          </p:cNvPr>
          <p:cNvSpPr txBox="1"/>
          <p:nvPr/>
        </p:nvSpPr>
        <p:spPr>
          <a:xfrm>
            <a:off x="566928" y="273346"/>
            <a:ext cx="10424160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ko-KR" sz="2500" b="1" dirty="0">
                <a:solidFill>
                  <a:srgbClr val="333333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4. </a:t>
            </a:r>
            <a:r>
              <a:rPr lang="ko-KR" altLang="en-US" sz="2500" b="1" dirty="0">
                <a:solidFill>
                  <a:srgbClr val="333333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방법론 및 결과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42E7B3-5CB0-0C64-2607-F9D214904B84}"/>
              </a:ext>
            </a:extLst>
          </p:cNvPr>
          <p:cNvSpPr/>
          <p:nvPr/>
        </p:nvSpPr>
        <p:spPr>
          <a:xfrm>
            <a:off x="566928" y="796590"/>
            <a:ext cx="11064240" cy="18288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슬라이드 번호 개체 틀 38">
            <a:extLst>
              <a:ext uri="{FF2B5EF4-FFF2-40B4-BE49-F238E27FC236}">
                <a16:creationId xmlns:a16="http://schemas.microsoft.com/office/drawing/2014/main" id="{C3A801E9-520D-BF95-EA47-D6F66759C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9189" y="6420145"/>
            <a:ext cx="2743200" cy="365125"/>
          </a:xfrm>
        </p:spPr>
        <p:txBody>
          <a:bodyPr/>
          <a:lstStyle/>
          <a:p>
            <a:fld id="{7F40F4AC-C263-BF4D-B85D-2209F4D7F591}" type="slidenum">
              <a:rPr kumimoji="1" lang="ko-KR" altLang="en-US" smtClean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9</a:t>
            </a:fld>
            <a:endParaRPr kumimoji="1" lang="ko-KR" altLang="en-US"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5263C2-2815-6E68-1BF8-A5F0A7F338B5}"/>
              </a:ext>
            </a:extLst>
          </p:cNvPr>
          <p:cNvSpPr txBox="1"/>
          <p:nvPr/>
        </p:nvSpPr>
        <p:spPr>
          <a:xfrm>
            <a:off x="6583680" y="292608"/>
            <a:ext cx="521208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2026 KETI AI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융합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응용기술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아이디어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경진대회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en-US" altLang="ko-KR"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차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중간발표회</a:t>
            </a:r>
            <a:endParaRPr sz="900" b="0" dirty="0">
              <a:solidFill>
                <a:srgbClr val="595959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6" name="Rounded Rectangle 7">
            <a:extLst>
              <a:ext uri="{FF2B5EF4-FFF2-40B4-BE49-F238E27FC236}">
                <a16:creationId xmlns:a16="http://schemas.microsoft.com/office/drawing/2014/main" id="{0AA73D3B-9DA8-8698-2077-17D571BB5945}"/>
              </a:ext>
            </a:extLst>
          </p:cNvPr>
          <p:cNvSpPr/>
          <p:nvPr/>
        </p:nvSpPr>
        <p:spPr>
          <a:xfrm>
            <a:off x="566928" y="1773936"/>
            <a:ext cx="3529584" cy="2889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27" name="Picture 8" descr="panel-ct.jpg">
            <a:extLst>
              <a:ext uri="{FF2B5EF4-FFF2-40B4-BE49-F238E27FC236}">
                <a16:creationId xmlns:a16="http://schemas.microsoft.com/office/drawing/2014/main" id="{EAC7BB25-2071-2B00-CCE1-9A3FF6D8B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399" y="1865376"/>
            <a:ext cx="1874640" cy="192024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D71F6F04-A08C-FC3C-F1BB-2090074B3E5E}"/>
              </a:ext>
            </a:extLst>
          </p:cNvPr>
          <p:cNvSpPr txBox="1"/>
          <p:nvPr/>
        </p:nvSpPr>
        <p:spPr>
          <a:xfrm>
            <a:off x="713232" y="3840479"/>
            <a:ext cx="323697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맑은 고딕"/>
              </a:rPr>
              <a:t>분전반 CT센서 설치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34B7A6-9AA1-142B-F7C1-169697940775}"/>
              </a:ext>
            </a:extLst>
          </p:cNvPr>
          <p:cNvSpPr txBox="1"/>
          <p:nvPr/>
        </p:nvSpPr>
        <p:spPr>
          <a:xfrm>
            <a:off x="713232" y="4114800"/>
            <a:ext cx="3236976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707070"/>
                </a:solidFill>
                <a:latin typeface="맑은 고딕"/>
              </a:rPr>
              <a:t>분전반 전선에 CT센서(SCT-013)를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707070"/>
                </a:solidFill>
                <a:latin typeface="맑은 고딕"/>
              </a:rPr>
              <a:t>물려 집 전체 전류를 실측</a:t>
            </a:r>
          </a:p>
        </p:txBody>
      </p:sp>
      <p:sp>
        <p:nvSpPr>
          <p:cNvPr id="30" name="Rounded Rectangle 11">
            <a:extLst>
              <a:ext uri="{FF2B5EF4-FFF2-40B4-BE49-F238E27FC236}">
                <a16:creationId xmlns:a16="http://schemas.microsoft.com/office/drawing/2014/main" id="{BD1DC0CC-13BA-51C8-3F06-27C1EC9B48FC}"/>
              </a:ext>
            </a:extLst>
          </p:cNvPr>
          <p:cNvSpPr/>
          <p:nvPr/>
        </p:nvSpPr>
        <p:spPr>
          <a:xfrm>
            <a:off x="4297680" y="1773936"/>
            <a:ext cx="3529584" cy="2889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1" name="Picture 12" descr="room-setup.jpg">
            <a:extLst>
              <a:ext uri="{FF2B5EF4-FFF2-40B4-BE49-F238E27FC236}">
                <a16:creationId xmlns:a16="http://schemas.microsoft.com/office/drawing/2014/main" id="{40740189-66D9-717C-0187-FB71330195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12" y="1865376"/>
            <a:ext cx="2560320" cy="192024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FFFA7837-E8FC-F698-9D27-318D4EC233B0}"/>
              </a:ext>
            </a:extLst>
          </p:cNvPr>
          <p:cNvSpPr txBox="1"/>
          <p:nvPr/>
        </p:nvSpPr>
        <p:spPr>
          <a:xfrm>
            <a:off x="4443984" y="3840479"/>
            <a:ext cx="323697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맑은 고딕"/>
              </a:rPr>
              <a:t>자취방 현장 측정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C34836F-3047-52C8-D975-3F9BFB5B1936}"/>
              </a:ext>
            </a:extLst>
          </p:cNvPr>
          <p:cNvSpPr txBox="1"/>
          <p:nvPr/>
        </p:nvSpPr>
        <p:spPr>
          <a:xfrm>
            <a:off x="4443984" y="4114800"/>
            <a:ext cx="3236976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707070"/>
                </a:solidFill>
                <a:latin typeface="맑은 고딕"/>
              </a:rPr>
              <a:t>라즈베리파이 + CT센서로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707070"/>
                </a:solidFill>
                <a:latin typeface="맑은 고딕"/>
              </a:rPr>
              <a:t>1인가구 전력을 직접 수집</a:t>
            </a:r>
          </a:p>
        </p:txBody>
      </p:sp>
      <p:sp>
        <p:nvSpPr>
          <p:cNvPr id="34" name="Rounded Rectangle 15">
            <a:extLst>
              <a:ext uri="{FF2B5EF4-FFF2-40B4-BE49-F238E27FC236}">
                <a16:creationId xmlns:a16="http://schemas.microsoft.com/office/drawing/2014/main" id="{EB777E7B-A741-52DB-F95E-26EAA9A4A60A}"/>
              </a:ext>
            </a:extLst>
          </p:cNvPr>
          <p:cNvSpPr/>
          <p:nvPr/>
        </p:nvSpPr>
        <p:spPr>
          <a:xfrm>
            <a:off x="8028431" y="1773936"/>
            <a:ext cx="3529584" cy="2889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5" name="Picture 16" descr="data-log.jpg">
            <a:extLst>
              <a:ext uri="{FF2B5EF4-FFF2-40B4-BE49-F238E27FC236}">
                <a16:creationId xmlns:a16="http://schemas.microsoft.com/office/drawing/2014/main" id="{E84E9A96-3909-8C23-882A-8A856E0E53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9871" y="2053662"/>
            <a:ext cx="3346703" cy="1543667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591FD9BD-E358-F4B5-CC73-731B2AB762B1}"/>
              </a:ext>
            </a:extLst>
          </p:cNvPr>
          <p:cNvSpPr txBox="1"/>
          <p:nvPr/>
        </p:nvSpPr>
        <p:spPr>
          <a:xfrm>
            <a:off x="8174736" y="3840479"/>
            <a:ext cx="323697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맑은 고딕"/>
              </a:rPr>
              <a:t>실측 데이터 스트림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F7E9C4A-5E0D-DD09-8C20-ED7E557ACBD1}"/>
              </a:ext>
            </a:extLst>
          </p:cNvPr>
          <p:cNvSpPr txBox="1"/>
          <p:nvPr/>
        </p:nvSpPr>
        <p:spPr>
          <a:xfrm>
            <a:off x="8174736" y="4114800"/>
            <a:ext cx="3236976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707070"/>
                </a:solidFill>
                <a:latin typeface="맑은 고딕"/>
              </a:rPr>
              <a:t>[Sensor 01] Power=… kWh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707070"/>
                </a:solidFill>
                <a:latin typeface="맑은 고딕"/>
              </a:rPr>
              <a:t>초 단위로 찍혀 저장되는 실측 로그</a:t>
            </a:r>
          </a:p>
        </p:txBody>
      </p:sp>
      <p:sp>
        <p:nvSpPr>
          <p:cNvPr id="38" name="Rounded Rectangle 19">
            <a:extLst>
              <a:ext uri="{FF2B5EF4-FFF2-40B4-BE49-F238E27FC236}">
                <a16:creationId xmlns:a16="http://schemas.microsoft.com/office/drawing/2014/main" id="{FCE7E19A-ED94-08E4-BB41-C371366CE02D}"/>
              </a:ext>
            </a:extLst>
          </p:cNvPr>
          <p:cNvSpPr/>
          <p:nvPr/>
        </p:nvSpPr>
        <p:spPr>
          <a:xfrm>
            <a:off x="566928" y="4882896"/>
            <a:ext cx="11064240" cy="1115568"/>
          </a:xfrm>
          <a:prstGeom prst="roundRect">
            <a:avLst>
              <a:gd name="adj" fmla="val 6000"/>
            </a:avLst>
          </a:prstGeom>
          <a:solidFill>
            <a:srgbClr val="F3F3F4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ADFC2D8-122C-A101-2676-F9A2BC71A3AF}"/>
              </a:ext>
            </a:extLst>
          </p:cNvPr>
          <p:cNvSpPr txBox="1"/>
          <p:nvPr/>
        </p:nvSpPr>
        <p:spPr>
          <a:xfrm>
            <a:off x="822960" y="4974336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맑은 고딕"/>
              </a:rPr>
              <a:t>측정 구성 : 저가 부품으로 온디바이스 계측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945E89B-EEFF-34E1-129E-3C7D9776F719}"/>
              </a:ext>
            </a:extLst>
          </p:cNvPr>
          <p:cNvSpPr txBox="1"/>
          <p:nvPr/>
        </p:nvSpPr>
        <p:spPr>
          <a:xfrm>
            <a:off x="868680" y="5266944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333333"/>
                </a:solidFill>
                <a:latin typeface="맑은 고딕"/>
              </a:rPr>
              <a:t>· Raspberry Pi 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75F82F8-E9B3-37DD-117A-CB95B60CDFCE}"/>
              </a:ext>
            </a:extLst>
          </p:cNvPr>
          <p:cNvSpPr txBox="1"/>
          <p:nvPr/>
        </p:nvSpPr>
        <p:spPr>
          <a:xfrm>
            <a:off x="978407" y="5504688"/>
            <a:ext cx="25146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880" b="0">
                <a:solidFill>
                  <a:srgbClr val="707070"/>
                </a:solidFill>
                <a:latin typeface="맑은 고딕"/>
              </a:rPr>
              <a:t>예측·이상탐지를 집 안에서 구동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F6D6024-7165-A974-8882-C267746EF3CF}"/>
              </a:ext>
            </a:extLst>
          </p:cNvPr>
          <p:cNvSpPr txBox="1"/>
          <p:nvPr/>
        </p:nvSpPr>
        <p:spPr>
          <a:xfrm>
            <a:off x="3566160" y="5266944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333333"/>
                </a:solidFill>
                <a:latin typeface="맑은 고딕"/>
              </a:rPr>
              <a:t>· CT 센서 (SCT-013)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8AB0BBC-830C-9163-4037-0FC7FBEF8E0A}"/>
              </a:ext>
            </a:extLst>
          </p:cNvPr>
          <p:cNvSpPr txBox="1"/>
          <p:nvPr/>
        </p:nvSpPr>
        <p:spPr>
          <a:xfrm>
            <a:off x="3675888" y="5504688"/>
            <a:ext cx="25146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880" b="0">
                <a:solidFill>
                  <a:srgbClr val="707070"/>
                </a:solidFill>
                <a:latin typeface="맑은 고딕"/>
              </a:rPr>
              <a:t>분전반 전류 비접촉 실측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627AD44-7562-8EA6-E31E-DD9D2746912E}"/>
              </a:ext>
            </a:extLst>
          </p:cNvPr>
          <p:cNvSpPr txBox="1"/>
          <p:nvPr/>
        </p:nvSpPr>
        <p:spPr>
          <a:xfrm>
            <a:off x="6263640" y="5266944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333333"/>
                </a:solidFill>
                <a:latin typeface="맑은 고딕"/>
              </a:rPr>
              <a:t>· 브레드보드 · ADC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045EA18-45A2-648B-A059-04E17552BBC6}"/>
              </a:ext>
            </a:extLst>
          </p:cNvPr>
          <p:cNvSpPr txBox="1"/>
          <p:nvPr/>
        </p:nvSpPr>
        <p:spPr>
          <a:xfrm>
            <a:off x="6373368" y="5504688"/>
            <a:ext cx="25146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880" b="0">
                <a:solidFill>
                  <a:srgbClr val="707070"/>
                </a:solidFill>
                <a:latin typeface="맑은 고딕"/>
              </a:rPr>
              <a:t>센서 신호를 Pi가 읽도록 변환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71FB946-ACC6-AD1C-B7B1-7BEC079D9B2C}"/>
              </a:ext>
            </a:extLst>
          </p:cNvPr>
          <p:cNvSpPr txBox="1"/>
          <p:nvPr/>
        </p:nvSpPr>
        <p:spPr>
          <a:xfrm>
            <a:off x="8961120" y="5266944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333333"/>
                </a:solidFill>
                <a:latin typeface="맑은 고딕"/>
              </a:rPr>
              <a:t>· 로컬 저장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2466379-D103-F1F0-5B55-42D57F11F005}"/>
              </a:ext>
            </a:extLst>
          </p:cNvPr>
          <p:cNvSpPr txBox="1"/>
          <p:nvPr/>
        </p:nvSpPr>
        <p:spPr>
          <a:xfrm>
            <a:off x="9070848" y="5504688"/>
            <a:ext cx="25146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880" b="0">
                <a:solidFill>
                  <a:srgbClr val="707070"/>
                </a:solidFill>
                <a:latin typeface="맑은 고딕"/>
              </a:rPr>
              <a:t>데이터는 집 밖으로 나가지 않음</a:t>
            </a:r>
          </a:p>
        </p:txBody>
      </p:sp>
    </p:spTree>
    <p:extLst>
      <p:ext uri="{BB962C8B-B14F-4D97-AF65-F5344CB8AC3E}">
        <p14:creationId xmlns:p14="http://schemas.microsoft.com/office/powerpoint/2010/main" val="5682783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32D6E-5E40-3BC7-68B5-582AD936B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906624-7846-CDD2-B882-B450B310D7D6}"/>
              </a:ext>
            </a:extLst>
          </p:cNvPr>
          <p:cNvSpPr txBox="1"/>
          <p:nvPr/>
        </p:nvSpPr>
        <p:spPr>
          <a:xfrm>
            <a:off x="566928" y="273346"/>
            <a:ext cx="10424160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ko-KR" sz="2500" b="1" dirty="0">
                <a:solidFill>
                  <a:srgbClr val="333333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4. </a:t>
            </a:r>
            <a:r>
              <a:rPr lang="ko-KR" altLang="en-US" sz="2500" b="1" dirty="0">
                <a:solidFill>
                  <a:srgbClr val="333333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방법론 및 결과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4A499C-DE78-69DE-45B4-8ECDB395D419}"/>
              </a:ext>
            </a:extLst>
          </p:cNvPr>
          <p:cNvSpPr/>
          <p:nvPr/>
        </p:nvSpPr>
        <p:spPr>
          <a:xfrm>
            <a:off x="566928" y="796590"/>
            <a:ext cx="11064240" cy="18288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슬라이드 번호 개체 틀 38">
            <a:extLst>
              <a:ext uri="{FF2B5EF4-FFF2-40B4-BE49-F238E27FC236}">
                <a16:creationId xmlns:a16="http://schemas.microsoft.com/office/drawing/2014/main" id="{81E58C95-9088-BFF6-8337-53D1C0A81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9189" y="6420145"/>
            <a:ext cx="2743200" cy="365125"/>
          </a:xfrm>
        </p:spPr>
        <p:txBody>
          <a:bodyPr/>
          <a:lstStyle/>
          <a:p>
            <a:fld id="{7F40F4AC-C263-BF4D-B85D-2209F4D7F591}" type="slidenum">
              <a:rPr kumimoji="1" lang="ko-KR" altLang="en-US" smtClean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10</a:t>
            </a:fld>
            <a:endParaRPr kumimoji="1" lang="ko-KR" altLang="en-US"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33E124-0276-22F8-EE4A-4C22EF7AA11F}"/>
              </a:ext>
            </a:extLst>
          </p:cNvPr>
          <p:cNvSpPr txBox="1"/>
          <p:nvPr/>
        </p:nvSpPr>
        <p:spPr>
          <a:xfrm>
            <a:off x="6583680" y="292608"/>
            <a:ext cx="521208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2026 KETI AI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융합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응용기술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아이디어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경진대회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en-US" altLang="ko-KR"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차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중간발표회</a:t>
            </a:r>
            <a:endParaRPr sz="900" b="0" dirty="0">
              <a:solidFill>
                <a:srgbClr val="595959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87001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811C6-683B-C3CF-4657-E632574B8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C8940E-E35D-CF95-5AAB-4925F187EE48}"/>
              </a:ext>
            </a:extLst>
          </p:cNvPr>
          <p:cNvSpPr txBox="1"/>
          <p:nvPr/>
        </p:nvSpPr>
        <p:spPr>
          <a:xfrm>
            <a:off x="566928" y="273346"/>
            <a:ext cx="10424160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ko-KR" sz="2500" b="1" dirty="0">
                <a:solidFill>
                  <a:srgbClr val="333333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5. </a:t>
            </a:r>
            <a:r>
              <a:rPr lang="ko-KR" altLang="en-US" sz="2500" b="1" dirty="0">
                <a:solidFill>
                  <a:srgbClr val="333333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멘토 피드백을 반영한 최종 계획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BDE2F1-F548-EFAB-AA5A-176FF80D0A5D}"/>
              </a:ext>
            </a:extLst>
          </p:cNvPr>
          <p:cNvSpPr/>
          <p:nvPr/>
        </p:nvSpPr>
        <p:spPr>
          <a:xfrm>
            <a:off x="566928" y="796590"/>
            <a:ext cx="11064240" cy="18288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슬라이드 번호 개체 틀 38">
            <a:extLst>
              <a:ext uri="{FF2B5EF4-FFF2-40B4-BE49-F238E27FC236}">
                <a16:creationId xmlns:a16="http://schemas.microsoft.com/office/drawing/2014/main" id="{9502977E-47B8-DE6D-6D6A-636E31C93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9189" y="6420145"/>
            <a:ext cx="2743200" cy="365125"/>
          </a:xfrm>
        </p:spPr>
        <p:txBody>
          <a:bodyPr/>
          <a:lstStyle/>
          <a:p>
            <a:fld id="{7F40F4AC-C263-BF4D-B85D-2209F4D7F591}" type="slidenum">
              <a:rPr kumimoji="1" lang="ko-KR" altLang="en-US" smtClean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11</a:t>
            </a:fld>
            <a:endParaRPr kumimoji="1" lang="ko-KR" altLang="en-US"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FDB9E0-E2F5-2E93-E3E6-E10BDEB24C08}"/>
              </a:ext>
            </a:extLst>
          </p:cNvPr>
          <p:cNvSpPr txBox="1"/>
          <p:nvPr/>
        </p:nvSpPr>
        <p:spPr>
          <a:xfrm>
            <a:off x="6583680" y="292608"/>
            <a:ext cx="521208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2026 KETI AI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융합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응용기술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아이디어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경진대회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en-US" altLang="ko-KR"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</a:t>
            </a:r>
            <a:r>
              <a:rPr sz="900" b="0" dirty="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차 </a:t>
            </a:r>
            <a:r>
              <a:rPr sz="900" b="0" dirty="0" err="1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중간발표회</a:t>
            </a:r>
            <a:endParaRPr sz="900" b="0" dirty="0">
              <a:solidFill>
                <a:srgbClr val="595959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FB92ED2-9EB1-4357-C741-D028E89C9312}"/>
              </a:ext>
            </a:extLst>
          </p:cNvPr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595959"/>
                </a:solidFill>
                <a:latin typeface="맑은 고딕"/>
              </a:rPr>
              <a:t>개념 검증(PoC)과 라이브 웹 데모, 자취방 실측을 마쳤다. 이제 실측 데이터로 검증하고 온디바이스로 통합한다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819FD6-EC26-65B5-7650-445FFF2C09FC}"/>
              </a:ext>
            </a:extLst>
          </p:cNvPr>
          <p:cNvSpPr txBox="1"/>
          <p:nvPr/>
        </p:nvSpPr>
        <p:spPr>
          <a:xfrm>
            <a:off x="566928" y="2048256"/>
            <a:ext cx="26151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맑은 고딕"/>
              </a:rPr>
              <a:t>Step 1.</a:t>
            </a:r>
          </a:p>
        </p:txBody>
      </p:sp>
      <p:sp>
        <p:nvSpPr>
          <p:cNvPr id="29" name="Rounded Rectangle 8">
            <a:extLst>
              <a:ext uri="{FF2B5EF4-FFF2-40B4-BE49-F238E27FC236}">
                <a16:creationId xmlns:a16="http://schemas.microsoft.com/office/drawing/2014/main" id="{A60D2D64-B673-2837-7546-98C8BB31A9A8}"/>
              </a:ext>
            </a:extLst>
          </p:cNvPr>
          <p:cNvSpPr/>
          <p:nvPr/>
        </p:nvSpPr>
        <p:spPr>
          <a:xfrm>
            <a:off x="566928" y="2322576"/>
            <a:ext cx="2615184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ounded Rectangle 9">
            <a:extLst>
              <a:ext uri="{FF2B5EF4-FFF2-40B4-BE49-F238E27FC236}">
                <a16:creationId xmlns:a16="http://schemas.microsoft.com/office/drawing/2014/main" id="{BCD96EEB-9959-1127-C1D0-8981A8D7A25E}"/>
              </a:ext>
            </a:extLst>
          </p:cNvPr>
          <p:cNvSpPr/>
          <p:nvPr/>
        </p:nvSpPr>
        <p:spPr>
          <a:xfrm>
            <a:off x="566928" y="2322576"/>
            <a:ext cx="2615184" cy="566928"/>
          </a:xfrm>
          <a:prstGeom prst="roundRect">
            <a:avLst>
              <a:gd name="adj" fmla="val 6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44DB7E-B0E9-3091-EFF5-A3909C01EC88}"/>
              </a:ext>
            </a:extLst>
          </p:cNvPr>
          <p:cNvSpPr txBox="1"/>
          <p:nvPr/>
        </p:nvSpPr>
        <p:spPr>
          <a:xfrm>
            <a:off x="566928" y="2359152"/>
            <a:ext cx="2615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완료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D282BC1-051C-05EA-52E8-380CF57C7692}"/>
              </a:ext>
            </a:extLst>
          </p:cNvPr>
          <p:cNvSpPr txBox="1"/>
          <p:nvPr/>
        </p:nvSpPr>
        <p:spPr>
          <a:xfrm>
            <a:off x="566928" y="2578608"/>
            <a:ext cx="26151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개념 검증 · 웹 데모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1A42FA-BF83-3DBE-ADC3-54C7743D5977}"/>
              </a:ext>
            </a:extLst>
          </p:cNvPr>
          <p:cNvSpPr txBox="1"/>
          <p:nvPr/>
        </p:nvSpPr>
        <p:spPr>
          <a:xfrm>
            <a:off x="731520" y="3017520"/>
            <a:ext cx="22860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50" b="0" dirty="0" err="1">
                <a:solidFill>
                  <a:srgbClr val="333333"/>
                </a:solidFill>
                <a:latin typeface="맑은 고딕"/>
              </a:rPr>
              <a:t>오토인코더</a:t>
            </a:r>
            <a:r>
              <a:rPr sz="95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950" b="0" dirty="0" err="1">
                <a:solidFill>
                  <a:srgbClr val="333333"/>
                </a:solidFill>
                <a:latin typeface="맑은 고딕"/>
              </a:rPr>
              <a:t>이상탐지</a:t>
            </a:r>
            <a:r>
              <a:rPr sz="950" b="0" dirty="0">
                <a:solidFill>
                  <a:srgbClr val="333333"/>
                </a:solidFill>
                <a:latin typeface="맑은 고딕"/>
              </a:rPr>
              <a:t> PoC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50" b="0" dirty="0" err="1">
                <a:solidFill>
                  <a:srgbClr val="333333"/>
                </a:solidFill>
                <a:latin typeface="맑은 고딕"/>
              </a:rPr>
              <a:t>전력</a:t>
            </a:r>
            <a:r>
              <a:rPr sz="95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950" b="0" dirty="0" err="1">
                <a:solidFill>
                  <a:srgbClr val="333333"/>
                </a:solidFill>
                <a:latin typeface="맑은 고딕"/>
              </a:rPr>
              <a:t>거래·절감</a:t>
            </a:r>
            <a:r>
              <a:rPr sz="95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950" b="0" dirty="0" err="1">
                <a:solidFill>
                  <a:srgbClr val="333333"/>
                </a:solidFill>
                <a:latin typeface="맑은 고딕"/>
              </a:rPr>
              <a:t>로직</a:t>
            </a:r>
            <a:r>
              <a:rPr sz="95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950" b="0" dirty="0" err="1">
                <a:solidFill>
                  <a:srgbClr val="333333"/>
                </a:solidFill>
                <a:latin typeface="맑은 고딕"/>
              </a:rPr>
              <a:t>구현</a:t>
            </a:r>
            <a:endParaRPr sz="950" b="0" dirty="0">
              <a:solidFill>
                <a:srgbClr val="333333"/>
              </a:solidFill>
              <a:latin typeface="맑은 고딕"/>
            </a:endParaRP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50" b="0" dirty="0" err="1">
                <a:solidFill>
                  <a:srgbClr val="333333"/>
                </a:solidFill>
                <a:latin typeface="맑은 고딕"/>
              </a:rPr>
              <a:t>라이브</a:t>
            </a:r>
            <a:r>
              <a:rPr sz="95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950" b="0" dirty="0" err="1">
                <a:solidFill>
                  <a:srgbClr val="333333"/>
                </a:solidFill>
                <a:latin typeface="맑은 고딕"/>
              </a:rPr>
              <a:t>포털</a:t>
            </a:r>
            <a:r>
              <a:rPr sz="950" b="0" dirty="0">
                <a:solidFill>
                  <a:srgbClr val="333333"/>
                </a:solidFill>
                <a:latin typeface="맑은 고딕"/>
              </a:rPr>
              <a:t> · </a:t>
            </a:r>
            <a:r>
              <a:rPr sz="950" b="0" dirty="0" err="1">
                <a:solidFill>
                  <a:srgbClr val="333333"/>
                </a:solidFill>
                <a:latin typeface="맑은 고딕"/>
              </a:rPr>
              <a:t>자취방</a:t>
            </a:r>
            <a:r>
              <a:rPr sz="95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950" b="0" dirty="0" err="1">
                <a:solidFill>
                  <a:srgbClr val="333333"/>
                </a:solidFill>
                <a:latin typeface="맑은 고딕"/>
              </a:rPr>
              <a:t>실측</a:t>
            </a:r>
            <a:r>
              <a:rPr sz="95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950" b="0" dirty="0" err="1">
                <a:solidFill>
                  <a:srgbClr val="333333"/>
                </a:solidFill>
                <a:latin typeface="맑은 고딕"/>
              </a:rPr>
              <a:t>개시</a:t>
            </a:r>
            <a:endParaRPr sz="950" b="0" dirty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34" name="Oval 13">
            <a:extLst>
              <a:ext uri="{FF2B5EF4-FFF2-40B4-BE49-F238E27FC236}">
                <a16:creationId xmlns:a16="http://schemas.microsoft.com/office/drawing/2014/main" id="{5FD2494E-0225-8D6E-9235-C8E597B69CE6}"/>
              </a:ext>
            </a:extLst>
          </p:cNvPr>
          <p:cNvSpPr/>
          <p:nvPr/>
        </p:nvSpPr>
        <p:spPr>
          <a:xfrm>
            <a:off x="1719072" y="4443984"/>
            <a:ext cx="310896" cy="310896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35" name="Right Arrow 14">
            <a:extLst>
              <a:ext uri="{FF2B5EF4-FFF2-40B4-BE49-F238E27FC236}">
                <a16:creationId xmlns:a16="http://schemas.microsoft.com/office/drawing/2014/main" id="{712BDE96-C57A-1727-4C6D-1352F8155020}"/>
              </a:ext>
            </a:extLst>
          </p:cNvPr>
          <p:cNvSpPr/>
          <p:nvPr/>
        </p:nvSpPr>
        <p:spPr>
          <a:xfrm>
            <a:off x="3218688" y="3337560"/>
            <a:ext cx="128016" cy="219456"/>
          </a:xfrm>
          <a:prstGeom prst="rightArrow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C346E1F-CF1E-04ED-D07D-338C3AEBEB47}"/>
              </a:ext>
            </a:extLst>
          </p:cNvPr>
          <p:cNvSpPr txBox="1"/>
          <p:nvPr/>
        </p:nvSpPr>
        <p:spPr>
          <a:xfrm>
            <a:off x="3383280" y="2048256"/>
            <a:ext cx="26151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333333"/>
                </a:solidFill>
                <a:latin typeface="맑은 고딕"/>
              </a:rPr>
              <a:t>Step 2.</a:t>
            </a:r>
          </a:p>
        </p:txBody>
      </p:sp>
      <p:sp>
        <p:nvSpPr>
          <p:cNvPr id="37" name="Rounded Rectangle 16">
            <a:extLst>
              <a:ext uri="{FF2B5EF4-FFF2-40B4-BE49-F238E27FC236}">
                <a16:creationId xmlns:a16="http://schemas.microsoft.com/office/drawing/2014/main" id="{CF0617B0-8DF9-99E0-0001-52F837775323}"/>
              </a:ext>
            </a:extLst>
          </p:cNvPr>
          <p:cNvSpPr/>
          <p:nvPr/>
        </p:nvSpPr>
        <p:spPr>
          <a:xfrm>
            <a:off x="3383280" y="2322576"/>
            <a:ext cx="2615184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Rounded Rectangle 17">
            <a:extLst>
              <a:ext uri="{FF2B5EF4-FFF2-40B4-BE49-F238E27FC236}">
                <a16:creationId xmlns:a16="http://schemas.microsoft.com/office/drawing/2014/main" id="{86DCA73A-F996-9AB5-2C81-E0FDF2AAF7E1}"/>
              </a:ext>
            </a:extLst>
          </p:cNvPr>
          <p:cNvSpPr/>
          <p:nvPr/>
        </p:nvSpPr>
        <p:spPr>
          <a:xfrm>
            <a:off x="3383280" y="2322576"/>
            <a:ext cx="2615184" cy="566928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636BC09-4C05-166C-5926-37AC4E28A067}"/>
              </a:ext>
            </a:extLst>
          </p:cNvPr>
          <p:cNvSpPr txBox="1"/>
          <p:nvPr/>
        </p:nvSpPr>
        <p:spPr>
          <a:xfrm>
            <a:off x="3383280" y="2359152"/>
            <a:ext cx="2615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9월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370673C-5979-5B78-B865-B77D120E40DB}"/>
              </a:ext>
            </a:extLst>
          </p:cNvPr>
          <p:cNvSpPr txBox="1"/>
          <p:nvPr/>
        </p:nvSpPr>
        <p:spPr>
          <a:xfrm>
            <a:off x="3383280" y="2578608"/>
            <a:ext cx="26151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실측 데이터 검증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5768F4-EF03-DAB6-CFAD-A44724DF3128}"/>
              </a:ext>
            </a:extLst>
          </p:cNvPr>
          <p:cNvSpPr txBox="1"/>
          <p:nvPr/>
        </p:nvSpPr>
        <p:spPr>
          <a:xfrm>
            <a:off x="3547872" y="3017520"/>
            <a:ext cx="22860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자취방 연속 측정 데이터 수집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합성→실측으로 성능 재검증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F1·리드타임·오탐률 산출</a:t>
            </a:r>
          </a:p>
        </p:txBody>
      </p:sp>
      <p:sp>
        <p:nvSpPr>
          <p:cNvPr id="43" name="Oval 21">
            <a:extLst>
              <a:ext uri="{FF2B5EF4-FFF2-40B4-BE49-F238E27FC236}">
                <a16:creationId xmlns:a16="http://schemas.microsoft.com/office/drawing/2014/main" id="{3DDAF45C-6166-681B-750A-BF3305B4EA4C}"/>
              </a:ext>
            </a:extLst>
          </p:cNvPr>
          <p:cNvSpPr/>
          <p:nvPr/>
        </p:nvSpPr>
        <p:spPr>
          <a:xfrm>
            <a:off x="4535424" y="4443984"/>
            <a:ext cx="310896" cy="310896"/>
          </a:xfrm>
          <a:prstGeom prst="ellipse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44" name="Right Arrow 22">
            <a:extLst>
              <a:ext uri="{FF2B5EF4-FFF2-40B4-BE49-F238E27FC236}">
                <a16:creationId xmlns:a16="http://schemas.microsoft.com/office/drawing/2014/main" id="{26136E39-2F58-80AE-B4BD-5CB038DC210C}"/>
              </a:ext>
            </a:extLst>
          </p:cNvPr>
          <p:cNvSpPr/>
          <p:nvPr/>
        </p:nvSpPr>
        <p:spPr>
          <a:xfrm>
            <a:off x="6035040" y="3337560"/>
            <a:ext cx="128016" cy="219456"/>
          </a:xfrm>
          <a:prstGeom prst="rightArrow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E153065-EAA1-1125-2D84-4B9CE4B25E26}"/>
              </a:ext>
            </a:extLst>
          </p:cNvPr>
          <p:cNvSpPr txBox="1"/>
          <p:nvPr/>
        </p:nvSpPr>
        <p:spPr>
          <a:xfrm>
            <a:off x="6199632" y="2048256"/>
            <a:ext cx="26151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707070"/>
                </a:solidFill>
                <a:latin typeface="맑은 고딕"/>
              </a:rPr>
              <a:t>Step 3.</a:t>
            </a:r>
          </a:p>
        </p:txBody>
      </p:sp>
      <p:sp>
        <p:nvSpPr>
          <p:cNvPr id="46" name="Rounded Rectangle 24">
            <a:extLst>
              <a:ext uri="{FF2B5EF4-FFF2-40B4-BE49-F238E27FC236}">
                <a16:creationId xmlns:a16="http://schemas.microsoft.com/office/drawing/2014/main" id="{EE7F1B1D-F2FB-0E52-6B4A-0438AA022FD9}"/>
              </a:ext>
            </a:extLst>
          </p:cNvPr>
          <p:cNvSpPr/>
          <p:nvPr/>
        </p:nvSpPr>
        <p:spPr>
          <a:xfrm>
            <a:off x="6199632" y="2322576"/>
            <a:ext cx="2615184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707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Rounded Rectangle 25">
            <a:extLst>
              <a:ext uri="{FF2B5EF4-FFF2-40B4-BE49-F238E27FC236}">
                <a16:creationId xmlns:a16="http://schemas.microsoft.com/office/drawing/2014/main" id="{19803094-9B50-1816-4E48-E72804E13C1A}"/>
              </a:ext>
            </a:extLst>
          </p:cNvPr>
          <p:cNvSpPr/>
          <p:nvPr/>
        </p:nvSpPr>
        <p:spPr>
          <a:xfrm>
            <a:off x="6199632" y="2322576"/>
            <a:ext cx="2615184" cy="566928"/>
          </a:xfrm>
          <a:prstGeom prst="roundRect">
            <a:avLst>
              <a:gd name="adj" fmla="val 6000"/>
            </a:avLst>
          </a:prstGeom>
          <a:solidFill>
            <a:srgbClr val="707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520C91D-44FA-15BA-1756-EC022E4C7743}"/>
              </a:ext>
            </a:extLst>
          </p:cNvPr>
          <p:cNvSpPr txBox="1"/>
          <p:nvPr/>
        </p:nvSpPr>
        <p:spPr>
          <a:xfrm>
            <a:off x="6199632" y="2359152"/>
            <a:ext cx="2615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10월 초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8C4C2F4-396B-6FE2-7B7B-BCF3DBA52199}"/>
              </a:ext>
            </a:extLst>
          </p:cNvPr>
          <p:cNvSpPr txBox="1"/>
          <p:nvPr/>
        </p:nvSpPr>
        <p:spPr>
          <a:xfrm>
            <a:off x="6199632" y="2578608"/>
            <a:ext cx="26151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온디바이스 통합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7054F1A-E8B9-B203-9A34-8026245BD924}"/>
              </a:ext>
            </a:extLst>
          </p:cNvPr>
          <p:cNvSpPr txBox="1"/>
          <p:nvPr/>
        </p:nvSpPr>
        <p:spPr>
          <a:xfrm>
            <a:off x="6364224" y="3017520"/>
            <a:ext cx="22860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라즈베리파이5 이식·경량화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거래·절감·안전 통합 파이프라인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지연·소비전력 프로파일링</a:t>
            </a:r>
          </a:p>
        </p:txBody>
      </p:sp>
      <p:sp>
        <p:nvSpPr>
          <p:cNvPr id="51" name="Oval 29">
            <a:extLst>
              <a:ext uri="{FF2B5EF4-FFF2-40B4-BE49-F238E27FC236}">
                <a16:creationId xmlns:a16="http://schemas.microsoft.com/office/drawing/2014/main" id="{985CE6AF-E3F3-D0D4-8BA6-845871AF27B9}"/>
              </a:ext>
            </a:extLst>
          </p:cNvPr>
          <p:cNvSpPr/>
          <p:nvPr/>
        </p:nvSpPr>
        <p:spPr>
          <a:xfrm>
            <a:off x="7351776" y="4443984"/>
            <a:ext cx="310896" cy="310896"/>
          </a:xfrm>
          <a:prstGeom prst="ellipse">
            <a:avLst/>
          </a:prstGeom>
          <a:solidFill>
            <a:srgbClr val="707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52" name="Right Arrow 30">
            <a:extLst>
              <a:ext uri="{FF2B5EF4-FFF2-40B4-BE49-F238E27FC236}">
                <a16:creationId xmlns:a16="http://schemas.microsoft.com/office/drawing/2014/main" id="{8E8018BC-DD95-AC6C-186B-3A55780C33C5}"/>
              </a:ext>
            </a:extLst>
          </p:cNvPr>
          <p:cNvSpPr/>
          <p:nvPr/>
        </p:nvSpPr>
        <p:spPr>
          <a:xfrm>
            <a:off x="8851392" y="3337560"/>
            <a:ext cx="128016" cy="219456"/>
          </a:xfrm>
          <a:prstGeom prst="rightArrow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9FEAC9B-E04C-E344-92FC-3553005208DF}"/>
              </a:ext>
            </a:extLst>
          </p:cNvPr>
          <p:cNvSpPr txBox="1"/>
          <p:nvPr/>
        </p:nvSpPr>
        <p:spPr>
          <a:xfrm>
            <a:off x="9015984" y="2048256"/>
            <a:ext cx="26151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9B1B30"/>
                </a:solidFill>
                <a:latin typeface="맑은 고딕"/>
              </a:rPr>
              <a:t>Step 4.</a:t>
            </a:r>
          </a:p>
        </p:txBody>
      </p:sp>
      <p:sp>
        <p:nvSpPr>
          <p:cNvPr id="54" name="Rounded Rectangle 32">
            <a:extLst>
              <a:ext uri="{FF2B5EF4-FFF2-40B4-BE49-F238E27FC236}">
                <a16:creationId xmlns:a16="http://schemas.microsoft.com/office/drawing/2014/main" id="{52957C80-D80E-4055-E5F5-586217A40DE8}"/>
              </a:ext>
            </a:extLst>
          </p:cNvPr>
          <p:cNvSpPr/>
          <p:nvPr/>
        </p:nvSpPr>
        <p:spPr>
          <a:xfrm>
            <a:off x="9015984" y="2322576"/>
            <a:ext cx="2615184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9B1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Rounded Rectangle 33">
            <a:extLst>
              <a:ext uri="{FF2B5EF4-FFF2-40B4-BE49-F238E27FC236}">
                <a16:creationId xmlns:a16="http://schemas.microsoft.com/office/drawing/2014/main" id="{8A3F736D-3626-D99E-08AB-55E5984A63AF}"/>
              </a:ext>
            </a:extLst>
          </p:cNvPr>
          <p:cNvSpPr/>
          <p:nvPr/>
        </p:nvSpPr>
        <p:spPr>
          <a:xfrm>
            <a:off x="9015984" y="2322576"/>
            <a:ext cx="2615184" cy="566928"/>
          </a:xfrm>
          <a:prstGeom prst="roundRect">
            <a:avLst>
              <a:gd name="adj" fmla="val 6000"/>
            </a:avLst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BDFB718-5984-3FFC-661B-E52091FC5EAB}"/>
              </a:ext>
            </a:extLst>
          </p:cNvPr>
          <p:cNvSpPr txBox="1"/>
          <p:nvPr/>
        </p:nvSpPr>
        <p:spPr>
          <a:xfrm>
            <a:off x="9015984" y="2359152"/>
            <a:ext cx="2615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10월 말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62BB70C-E8B8-371D-0A88-7539E46FEEA4}"/>
              </a:ext>
            </a:extLst>
          </p:cNvPr>
          <p:cNvSpPr txBox="1"/>
          <p:nvPr/>
        </p:nvSpPr>
        <p:spPr>
          <a:xfrm>
            <a:off x="9015984" y="2578608"/>
            <a:ext cx="26151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실증 및 산출물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2DFDE3F-8E40-EEF7-CC5D-A648216339F6}"/>
              </a:ext>
            </a:extLst>
          </p:cNvPr>
          <p:cNvSpPr txBox="1"/>
          <p:nvPr/>
        </p:nvSpPr>
        <p:spPr>
          <a:xfrm>
            <a:off x="9180576" y="3017520"/>
            <a:ext cx="22860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실가정 시범 운영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성능 보고서 · 라이브 데모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오픈소스 공개</a:t>
            </a:r>
          </a:p>
        </p:txBody>
      </p:sp>
      <p:sp>
        <p:nvSpPr>
          <p:cNvPr id="59" name="Oval 37">
            <a:extLst>
              <a:ext uri="{FF2B5EF4-FFF2-40B4-BE49-F238E27FC236}">
                <a16:creationId xmlns:a16="http://schemas.microsoft.com/office/drawing/2014/main" id="{35B7DEE1-3921-399D-DCAB-306C8323245C}"/>
              </a:ext>
            </a:extLst>
          </p:cNvPr>
          <p:cNvSpPr/>
          <p:nvPr/>
        </p:nvSpPr>
        <p:spPr>
          <a:xfrm>
            <a:off x="10168128" y="4443984"/>
            <a:ext cx="310896" cy="310896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60" name="Rounded Rectangle 38">
            <a:extLst>
              <a:ext uri="{FF2B5EF4-FFF2-40B4-BE49-F238E27FC236}">
                <a16:creationId xmlns:a16="http://schemas.microsoft.com/office/drawing/2014/main" id="{7ABB633D-C1A8-69A8-9C48-5BDF0FECDD6F}"/>
              </a:ext>
            </a:extLst>
          </p:cNvPr>
          <p:cNvSpPr/>
          <p:nvPr/>
        </p:nvSpPr>
        <p:spPr>
          <a:xfrm>
            <a:off x="566928" y="5047488"/>
            <a:ext cx="11064240" cy="1060704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846D16E-4343-2D93-A7B7-D0ED946BFD99}"/>
              </a:ext>
            </a:extLst>
          </p:cNvPr>
          <p:cNvSpPr txBox="1"/>
          <p:nvPr/>
        </p:nvSpPr>
        <p:spPr>
          <a:xfrm>
            <a:off x="868680" y="5157216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기대효과 :  가정이 스스로 전기를 사고팔고, 아끼고, 지킨다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431B8C9-B748-6B2D-965C-89FAE24D45F0}"/>
              </a:ext>
            </a:extLst>
          </p:cNvPr>
          <p:cNvSpPr txBox="1"/>
          <p:nvPr/>
        </p:nvSpPr>
        <p:spPr>
          <a:xfrm>
            <a:off x="868680" y="5504688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맑은 고딕"/>
              </a:rPr>
              <a:t>경제 : 실시간 요금·태양광 거래로 전기요금 절감, 누진 사전 회피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맑은 고딕"/>
              </a:rPr>
              <a:t>사회 : 취약계층 요금 부담 완화 + 고립가구 이상 조기 감지 (라파 한 대, 무클라우드)</a:t>
            </a:r>
          </a:p>
        </p:txBody>
      </p:sp>
    </p:spTree>
    <p:extLst>
      <p:ext uri="{BB962C8B-B14F-4D97-AF65-F5344CB8AC3E}">
        <p14:creationId xmlns:p14="http://schemas.microsoft.com/office/powerpoint/2010/main" val="685640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73109E0-80D5-3841-B7A9-2CBA17B79BEF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b227095e-054c-410b-b9e2-b9726ad7c3f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821</TotalTime>
  <Words>2114</Words>
  <Application>Microsoft Macintosh PowerPoint</Application>
  <PresentationFormat>와이드스크린</PresentationFormat>
  <Paragraphs>283</Paragraphs>
  <Slides>11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20" baseType="lpstr">
      <vt:lpstr>맑은 고딕</vt:lpstr>
      <vt:lpstr>에스코어 드림 5 Medium</vt:lpstr>
      <vt:lpstr>에스코어 드림 6 Bold</vt:lpstr>
      <vt:lpstr>S-Core Dream 5 Medium</vt:lpstr>
      <vt:lpstr>S-Core Dream 6 Bold</vt:lpstr>
      <vt:lpstr>S-Core Dream 7 ExtraBold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최진규 [대학원 / 산업경영공학과]</dc:creator>
  <cp:lastModifiedBy>최진규 [대학원 / 산업경영공학과]</cp:lastModifiedBy>
  <cp:revision>6</cp:revision>
  <dcterms:created xsi:type="dcterms:W3CDTF">2026-09-16T01:43:23Z</dcterms:created>
  <dcterms:modified xsi:type="dcterms:W3CDTF">2026-09-16T15:28:54Z</dcterms:modified>
</cp:coreProperties>
</file>